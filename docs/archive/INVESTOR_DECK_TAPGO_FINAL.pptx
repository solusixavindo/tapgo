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65992" cy="0"/>
          </a:xfrm>
          <a:prstGeom prst="line">
            <a:avLst/>
          </a:prstGeom>
          <a:noFill/>
          <a:ln w="12700">
            <a:solidFill>
              <a:srgbClr val="123F7A">
                <a:alpha val="8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65392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3A4BC"/>
                </a:solidFill>
              </a:rPr>
              <a:t>PT. TapGo Lion Indonesia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9464040" y="6565392"/>
            <a:ext cx="21488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3A4BC"/>
                </a:solidFill>
              </a:rPr>
              <a:t>Investor Deck Final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image" Target="../media/image-31-1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pic>
        <p:nvPicPr>
          <p:cNvPr id="5" name="Image 0" descr="/Users/macbook/Documents/FriTekno/Projects/Tapgo/google-play-assets/feature-graphic-1024x500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0" y="0"/>
            <a:ext cx="12191695" cy="5943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>
              <a:alpha val="88000"/>
            </a:srgbClr>
          </a:solidFill>
          <a:ln w="12700">
            <a:solidFill>
              <a:srgbClr val="06142E">
                <a:alpha val="0"/>
              </a:srgbClr>
            </a:solidFill>
            <a:prstDash val="solid"/>
          </a:ln>
        </p:spPr>
      </p:sp>
      <p:pic>
        <p:nvPicPr>
          <p:cNvPr id="7" name="Image 1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713232"/>
            <a:ext cx="1143000" cy="9601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1520" y="187452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TapGo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786384" y="2670048"/>
            <a:ext cx="57607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C451"/>
                </a:solidFill>
              </a:rPr>
              <a:t>Membership • Referral • Wallet • PPOB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786384" y="5440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PT. TapGo Lion Indonesia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86384" y="5806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</a:rPr>
              <a:t>Investor Deck Final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RINGKASAN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Ringkasan Eksekutif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Platform membership-first untuk komunitas digital Indonesia.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TapGo menggabungkan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Membership sebagai pintu masuk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Wallet sebagai mesin transaksi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PPOB sebagai aktivitas harian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dan Reward sebagai growth engine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Merchant dan layanan sebagai monetisasi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Tesis utama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Pasar digital Indonesia besar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UMKM dan komunitas aktif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Pembayaran digital meningkat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TapGo menyatukan member, transaksi, reward, merchant, dan admin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MASALAH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Masalah Pasar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Komunitas, UMKM, dan merchant lokal masih kekurangan operating system digital.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Masalah utama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Jaringan member belum terstruktur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Loyalitas masih manual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Wallet, invoice, benefit, referral, dan laporan terpisah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sulit diaudit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Dampak bisnis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Pertumbuhan tidak efisien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Merchant sulit membangun loyalitas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Admin kekurangan visibility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Partner butuh data aktivasi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SOLUSI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Solusi TapGo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Operating layer untuk membership dan komunitas digital.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TapGo menyediakan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Membership berjenjang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Wallet dan ledger transaksi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PPOB benefit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dan reward engine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Admin dan Super Admin console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Hasil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Akuisisi member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Aktivasi komunitas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Retensi member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Kontrol operasional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Ekspansi layanan bertahap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MOMENTUM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Why Now?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Momentum pasar digital Indonesia sedang matang untuk platform komunitas lokal.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82880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60120" y="2112264"/>
            <a:ext cx="347472" cy="347472"/>
          </a:xfrm>
          <a:prstGeom prst="ellipse">
            <a:avLst/>
          </a:prstGeom>
          <a:solidFill>
            <a:srgbClr val="0B66D8"/>
          </a:solidFill>
          <a:ln w="12700">
            <a:solidFill>
              <a:srgbClr val="0B66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35608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Ekonomi digital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435608" y="23591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Indonesia menjadi pasar digital besar Asia Tenggara</a:t>
            </a:r>
            <a:endParaRPr lang="en-US" sz="87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12A67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112264"/>
            <a:ext cx="347472" cy="347472"/>
          </a:xfrm>
          <a:prstGeom prst="ellipse">
            <a:avLst/>
          </a:prstGeom>
          <a:solidFill>
            <a:srgbClr val="12A67A"/>
          </a:solidFill>
          <a:ln w="12700">
            <a:solidFill>
              <a:srgbClr val="12A6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38928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QRIS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138928" y="23591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Adopsi QRIS mempercepat pembayaran digital</a:t>
            </a:r>
            <a:endParaRPr lang="en-US" sz="870" dirty="0"/>
          </a:p>
        </p:txBody>
      </p:sp>
      <p:sp>
        <p:nvSpPr>
          <p:cNvPr id="17" name="Shape 14"/>
          <p:cNvSpPr/>
          <p:nvPr/>
        </p:nvSpPr>
        <p:spPr>
          <a:xfrm>
            <a:off x="8183880" y="182880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66760" y="2112264"/>
            <a:ext cx="347472" cy="347472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42248" y="201168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E-wallet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842248" y="235915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Transaksi digital makin menjadi kebiasaan mobile</a:t>
            </a:r>
            <a:endParaRPr lang="en-US" sz="870" dirty="0"/>
          </a:p>
        </p:txBody>
      </p:sp>
      <p:sp>
        <p:nvSpPr>
          <p:cNvPr id="21" name="Shape 18"/>
          <p:cNvSpPr/>
          <p:nvPr/>
        </p:nvSpPr>
        <p:spPr>
          <a:xfrm>
            <a:off x="777240" y="324612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60120" y="3529584"/>
            <a:ext cx="347472" cy="347472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35608" y="34290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UMKM digital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435608" y="377647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UMKM terdorong masuk kanal digital</a:t>
            </a:r>
            <a:endParaRPr lang="en-US" sz="870" dirty="0"/>
          </a:p>
        </p:txBody>
      </p:sp>
      <p:sp>
        <p:nvSpPr>
          <p:cNvPr id="25" name="Shape 22"/>
          <p:cNvSpPr/>
          <p:nvPr/>
        </p:nvSpPr>
        <p:spPr>
          <a:xfrm>
            <a:off x="4480560" y="324612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16A34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63440" y="3529584"/>
            <a:ext cx="347472" cy="347472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38928" y="34290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Komunitas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138928" y="377647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Komunitas lokal butuh sistem profesional</a:t>
            </a:r>
            <a:endParaRPr lang="en-US" sz="870" dirty="0"/>
          </a:p>
        </p:txBody>
      </p:sp>
      <p:sp>
        <p:nvSpPr>
          <p:cNvPr id="29" name="Shape 26"/>
          <p:cNvSpPr/>
          <p:nvPr/>
        </p:nvSpPr>
        <p:spPr>
          <a:xfrm>
            <a:off x="8183880" y="3246120"/>
            <a:ext cx="3154680" cy="1005840"/>
          </a:xfrm>
          <a:prstGeom prst="roundRect">
            <a:avLst>
              <a:gd name="adj" fmla="val 9091"/>
            </a:avLst>
          </a:prstGeom>
          <a:solidFill>
            <a:srgbClr val="F7FAFF"/>
          </a:solidFill>
          <a:ln w="12700">
            <a:solidFill>
              <a:srgbClr val="5B5BD6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8366760" y="3529584"/>
            <a:ext cx="347472" cy="347472"/>
          </a:xfrm>
          <a:prstGeom prst="ellipse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842248" y="3429000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2033"/>
                </a:solidFill>
              </a:rPr>
              <a:t>Super-app lokal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8842248" y="3776472"/>
            <a:ext cx="2148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67085"/>
                </a:solidFill>
              </a:rPr>
              <a:t>Ada ruang untuk platform lokal berbasis komunitas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841248" y="5577840"/>
            <a:ext cx="103327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40" dirty="0">
                <a:solidFill>
                  <a:srgbClr val="C7D2E5"/>
                </a:solidFill>
              </a:rPr>
              <a:t>Sumber: APJII 2024, Bank Indonesia/QRIS 2024, e-Conomy SEA, data publik pemerintah dan makro ekonomi.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TESIS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Tesis Investasi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Mengapa TapGo menarik untuk investor?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Tesis investasi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Membership-first ecosystem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Multi sumber pendapatan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Pertumbuhan berbasis komunitas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Transaksi PPOB berulang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Ekosistem wallet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Tesis ekspansi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Ekspansi mobilitas dan commerce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Platform digital scalable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Layanan berbasis partner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Distribusi berbasis komunitas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Tidak bergantung pada satu pendapatan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EKOSISTEM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Ekosistem TapGo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Alur bisnis dari member menuju transaksi, monetisasi, dan pertumbuhan.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041648" y="1581912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7FAFF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206240" y="1664208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USER / MEMBER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007608" y="1673352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6108192" y="2039112"/>
            <a:ext cx="0" cy="182880"/>
          </a:xfrm>
          <a:prstGeom prst="line">
            <a:avLst/>
          </a:prstGeom>
          <a:noFill/>
          <a:ln w="19050">
            <a:solidFill>
              <a:srgbClr val="8DB8F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041648" y="224028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0B2348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206240" y="2322576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MEMBERSHIP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007608" y="2331720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C7D2E5"/>
                </a:solidFill>
              </a:rPr>
              <a:t>pintu masuk ekosistem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6108192" y="2697480"/>
            <a:ext cx="0" cy="182880"/>
          </a:xfrm>
          <a:prstGeom prst="line">
            <a:avLst/>
          </a:prstGeom>
          <a:noFill/>
          <a:ln w="19050">
            <a:solidFill>
              <a:srgbClr val="8DB8F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041648" y="2898648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7FAFF"/>
          </a:solidFill>
          <a:ln w="12700">
            <a:solidFill>
              <a:srgbClr val="0A3D9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06240" y="2980944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WALLET / TAPGOPAY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007608" y="2990088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mesin transaksi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6108192" y="3355848"/>
            <a:ext cx="0" cy="182880"/>
          </a:xfrm>
          <a:prstGeom prst="line">
            <a:avLst/>
          </a:prstGeom>
          <a:noFill/>
          <a:ln w="19050">
            <a:solidFill>
              <a:srgbClr val="8DB8F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041648" y="3557016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0B2348"/>
          </a:solidFill>
          <a:ln w="12700">
            <a:solidFill>
              <a:srgbClr val="12A67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206240" y="3639312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PPOB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07608" y="3648456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C7D2E5"/>
                </a:solidFill>
              </a:rPr>
              <a:t>aktivitas harian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6108192" y="4014216"/>
            <a:ext cx="0" cy="182880"/>
          </a:xfrm>
          <a:prstGeom prst="line">
            <a:avLst/>
          </a:prstGeom>
          <a:noFill/>
          <a:ln w="19050">
            <a:solidFill>
              <a:srgbClr val="8DB8F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4041648" y="4215384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F7FAFF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4206240" y="4297680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33"/>
                </a:solidFill>
              </a:rPr>
              <a:t>LAYANAN MONETISASI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007608" y="4306824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667085"/>
                </a:solidFill>
              </a:rPr>
              <a:t>Ride • Car • Food • Mart • Delivery • Travel</a:t>
            </a:r>
            <a:endParaRPr lang="en-US" sz="860" dirty="0"/>
          </a:p>
        </p:txBody>
      </p:sp>
      <p:sp>
        <p:nvSpPr>
          <p:cNvPr id="28" name="Shape 25"/>
          <p:cNvSpPr/>
          <p:nvPr/>
        </p:nvSpPr>
        <p:spPr>
          <a:xfrm>
            <a:off x="6108192" y="4672584"/>
            <a:ext cx="0" cy="182880"/>
          </a:xfrm>
          <a:prstGeom prst="line">
            <a:avLst/>
          </a:prstGeom>
          <a:noFill/>
          <a:ln w="19050">
            <a:solidFill>
              <a:srgbClr val="8DB8FF">
                <a:alpha val="88000"/>
              </a:srgbClr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4041648" y="4983480"/>
            <a:ext cx="4114800" cy="438912"/>
          </a:xfrm>
          <a:prstGeom prst="roundRect">
            <a:avLst>
              <a:gd name="adj" fmla="val 20833"/>
            </a:avLst>
          </a:prstGeom>
          <a:solidFill>
            <a:srgbClr val="0B2348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4206240" y="5065776"/>
            <a:ext cx="1783080" cy="1371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REFERRAL &amp; REWARD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007608" y="5074920"/>
            <a:ext cx="1920240" cy="128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C7D2E5"/>
                </a:solidFill>
              </a:rPr>
              <a:t>mesin pertumbuhan pengguna</a:t>
            </a:r>
            <a:endParaRPr lang="en-US" sz="860" dirty="0"/>
          </a:p>
        </p:txBody>
      </p:sp>
      <p:sp>
        <p:nvSpPr>
          <p:cNvPr id="32" name="Shape 29"/>
          <p:cNvSpPr/>
          <p:nvPr/>
        </p:nvSpPr>
        <p:spPr>
          <a:xfrm>
            <a:off x="685800" y="5833872"/>
            <a:ext cx="10835640" cy="393192"/>
          </a:xfrm>
          <a:prstGeom prst="roundRect">
            <a:avLst>
              <a:gd name="adj" fmla="val 23256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914400" y="5961888"/>
            <a:ext cx="10378440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7D2E5"/>
                </a:solidFill>
              </a:rPr>
              <a:t>Membership = pintu masuk • Wallet = mesin transaksi • PPOB = aktivitas harian • Ride/Food/Mart = monetisasi layanan • Referral = pertumbuhan pengguna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VISI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Visi Super App Indonesia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Dari komunitas menuju layanan harian yang terintegrasi.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2423160"/>
            <a:ext cx="1417320" cy="685800"/>
          </a:xfrm>
          <a:prstGeom prst="chevron">
            <a:avLst/>
          </a:prstGeom>
          <a:solidFill>
            <a:srgbClr val="0B66D8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2648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Membership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2130552" y="2423160"/>
            <a:ext cx="1417320" cy="685800"/>
          </a:xfrm>
          <a:prstGeom prst="chevron">
            <a:avLst/>
          </a:prstGeom>
          <a:solidFill>
            <a:srgbClr val="0B66D8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0280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Wallet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3758184" y="2423160"/>
            <a:ext cx="1417320" cy="685800"/>
          </a:xfrm>
          <a:prstGeom prst="chevron">
            <a:avLst/>
          </a:prstGeom>
          <a:solidFill>
            <a:srgbClr val="0B66D8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67912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PPOB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5385816" y="2423160"/>
            <a:ext cx="1417320" cy="685800"/>
          </a:xfrm>
          <a:prstGeom prst="chevron">
            <a:avLst/>
          </a:prstGeom>
          <a:solidFill>
            <a:srgbClr val="12A67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95544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Mobility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7013448" y="2423160"/>
            <a:ext cx="1417320" cy="685800"/>
          </a:xfrm>
          <a:prstGeom prst="chevron">
            <a:avLst/>
          </a:prstGeom>
          <a:solidFill>
            <a:srgbClr val="12A67A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23176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Commerce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8641080" y="2423160"/>
            <a:ext cx="1417320" cy="685800"/>
          </a:xfrm>
          <a:prstGeom prst="chevron">
            <a:avLst/>
          </a:prstGeom>
          <a:solidFill>
            <a:srgbClr val="F5C451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750808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6142E"/>
                </a:solidFill>
              </a:rPr>
              <a:t>Travel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10268712" y="2423160"/>
            <a:ext cx="1417320" cy="685800"/>
          </a:xfrm>
          <a:prstGeom prst="chevron">
            <a:avLst/>
          </a:prstGeom>
          <a:solidFill>
            <a:srgbClr val="F5C451"/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378440" y="2615184"/>
            <a:ext cx="10058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6142E"/>
                </a:solidFill>
              </a:rPr>
              <a:t>Financial Services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1051560" y="3977640"/>
            <a:ext cx="10058400" cy="1143000"/>
          </a:xfrm>
          <a:prstGeom prst="roundRect">
            <a:avLst>
              <a:gd name="adj" fmla="val 8000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1325880" y="4315968"/>
            <a:ext cx="95097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</a:rPr>
              <a:t>TapGo memulai dari kebutuhan komunitas dan member, membangun transaksi berulang melalui wallet/PPOB, lalu memperluas layanan melalui merchant, mobility, travel, dan financial services berbasis kemitraan.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Market Opportunity per Vertikal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Beberapa vertikal saling memperkuat dalam satu ekosistem.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8288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7FAFF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78408" y="2130552"/>
            <a:ext cx="384048" cy="384048"/>
          </a:xfrm>
          <a:prstGeom prst="ellipse">
            <a:avLst/>
          </a:prstGeom>
          <a:solidFill>
            <a:srgbClr val="0B66D8"/>
          </a:solidFill>
          <a:ln w="12700">
            <a:solidFill>
              <a:srgbClr val="0B66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490472" y="20299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Ride Hailing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1490472" y="2404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Mobilitas harian dan mitra lokal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4480560" y="18288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7FAFF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81728" y="2130552"/>
            <a:ext cx="384048" cy="384048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193792" y="20299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Food Delivery</a:t>
            </a:r>
            <a:endParaRPr lang="en-US" sz="1320" dirty="0"/>
          </a:p>
        </p:txBody>
      </p:sp>
      <p:sp>
        <p:nvSpPr>
          <p:cNvPr id="16" name="Text 13"/>
          <p:cNvSpPr/>
          <p:nvPr/>
        </p:nvSpPr>
        <p:spPr>
          <a:xfrm>
            <a:off x="5193792" y="2404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Merchant makanan dan pesan antar</a:t>
            </a:r>
            <a:endParaRPr lang="en-US" sz="920" dirty="0"/>
          </a:p>
        </p:txBody>
      </p:sp>
      <p:sp>
        <p:nvSpPr>
          <p:cNvPr id="17" name="Shape 14"/>
          <p:cNvSpPr/>
          <p:nvPr/>
        </p:nvSpPr>
        <p:spPr>
          <a:xfrm>
            <a:off x="8183880" y="18288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7FAFF"/>
          </a:solidFill>
          <a:ln w="12700">
            <a:solidFill>
              <a:srgbClr val="12A67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8385048" y="2130552"/>
            <a:ext cx="384048" cy="384048"/>
          </a:xfrm>
          <a:prstGeom prst="ellipse">
            <a:avLst/>
          </a:prstGeom>
          <a:solidFill>
            <a:srgbClr val="12A67A"/>
          </a:solidFill>
          <a:ln w="12700">
            <a:solidFill>
              <a:srgbClr val="12A67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897112" y="20299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PPOB</a:t>
            </a:r>
            <a:endParaRPr lang="en-US" sz="1320" dirty="0"/>
          </a:p>
        </p:txBody>
      </p:sp>
      <p:sp>
        <p:nvSpPr>
          <p:cNvPr id="20" name="Text 17"/>
          <p:cNvSpPr/>
          <p:nvPr/>
        </p:nvSpPr>
        <p:spPr>
          <a:xfrm>
            <a:off x="8897112" y="24048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Pulsa, tagihan, pembayaran rutin</a:t>
            </a:r>
            <a:endParaRPr lang="en-US" sz="920" dirty="0"/>
          </a:p>
        </p:txBody>
      </p:sp>
      <p:sp>
        <p:nvSpPr>
          <p:cNvPr id="21" name="Shape 18"/>
          <p:cNvSpPr/>
          <p:nvPr/>
        </p:nvSpPr>
        <p:spPr>
          <a:xfrm>
            <a:off x="777240" y="34290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7FAFF"/>
          </a:solidFill>
          <a:ln w="12700">
            <a:solidFill>
              <a:srgbClr val="0A3D9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978408" y="3730752"/>
            <a:ext cx="384048" cy="384048"/>
          </a:xfrm>
          <a:prstGeom prst="ellipse">
            <a:avLst/>
          </a:prstGeom>
          <a:solidFill>
            <a:srgbClr val="0A3D91"/>
          </a:solidFill>
          <a:ln w="12700">
            <a:solidFill>
              <a:srgbClr val="0A3D9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490472" y="3630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Digital Wallet</a:t>
            </a:r>
            <a:endParaRPr lang="en-US" sz="1320" dirty="0"/>
          </a:p>
        </p:txBody>
      </p:sp>
      <p:sp>
        <p:nvSpPr>
          <p:cNvPr id="24" name="Text 21"/>
          <p:cNvSpPr/>
          <p:nvPr/>
        </p:nvSpPr>
        <p:spPr>
          <a:xfrm>
            <a:off x="1490472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Ledger saldo, reward, transaksi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4480560" y="3429000"/>
            <a:ext cx="3154680" cy="1188720"/>
          </a:xfrm>
          <a:prstGeom prst="roundRect">
            <a:avLst>
              <a:gd name="adj" fmla="val 7692"/>
            </a:avLst>
          </a:prstGeom>
          <a:solidFill>
            <a:srgbClr val="FFF7DB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681728" y="3730752"/>
            <a:ext cx="384048" cy="384048"/>
          </a:xfrm>
          <a:prstGeom prst="ellipse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193792" y="3630168"/>
            <a:ext cx="219456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172033"/>
                </a:solidFill>
              </a:rPr>
              <a:t>Community Commerce</a:t>
            </a:r>
            <a:endParaRPr lang="en-US" sz="1320" dirty="0"/>
          </a:p>
        </p:txBody>
      </p:sp>
      <p:sp>
        <p:nvSpPr>
          <p:cNvPr id="28" name="Text 25"/>
          <p:cNvSpPr/>
          <p:nvPr/>
        </p:nvSpPr>
        <p:spPr>
          <a:xfrm>
            <a:off x="5193792" y="400507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085"/>
                </a:solidFill>
              </a:rPr>
              <a:t>Komunitas, UMKM, promo, merchant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TAM, SAM, SOM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TAM = besar pasar, SAM = pasar terjangkau, SOM = target realistis.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22960" y="182880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115568" y="20848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TAM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2057400" y="2011680"/>
            <a:ext cx="8823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Total pasar maksimal jika ekosistem berkembang penuh di Indonesia. ~221 juta pengguna internet; ekonomi digital &gt;US$130 Miliar.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22960" y="297180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115568" y="32278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SAM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2057400" y="3154680"/>
            <a:ext cx="8823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Pasar realistis yang dijangkau melalui Banten, Jabodetabek, komunitas, UMKM, member, dan merchant.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114800"/>
            <a:ext cx="10515600" cy="841248"/>
          </a:xfrm>
          <a:prstGeom prst="roundRect">
            <a:avLst>
              <a:gd name="adj" fmla="val 10870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115568" y="4370832"/>
            <a:ext cx="914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SOM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2057400" y="4297680"/>
            <a:ext cx="882396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Target realistis 1-3 tahun: 10.000 sampai 100.000 Pengguna terdaftar.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68680" y="5486400"/>
            <a:ext cx="1042416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C7D2E5"/>
                </a:solidFill>
              </a:rPr>
              <a:t>TAM menunjukkan besar pasar, SAM menunjukkan pasar yang dapat dijangkau, SOM menunjukkan target yang realistis diperoleh.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MODEL BISNIS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Model Bisnis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Monetisasi bertahap dari membership menuju transaksi ekosistem.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Sumber pendapatan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Paket membership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Margin PPOB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Transaction fee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Merchant partnership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Promotion inventory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Future partner services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Kualitas pendapatan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Membership memberi monetisasi awal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PPOB dan wallet mendorong transaksi rutin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Merchant membuka use case harian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Partner services mengurangi kebutuhan build semua layanan sendiri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MEMBERSHIP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Ekosistem Membership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Membership menjadi pintu masuk ekosistem TapGo.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Tier member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Basic: akses aplikasi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Silver: paket berbayar dan benefit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Gold: benefit lebih tinggi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Platinum: tier premium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Fungsi strategis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Akuisisi awal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Segmentasi member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Benefit terukur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Landasan ekspansi layanan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REFERRAL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Referral dan Reward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Growth engine yang terukur dan berbasis eligibility.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Prinsip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untuk akuisisi member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Reward berbasis aktivitas dan syarat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Bonus mengikuti status valid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Ledger dan report mendukung transparansi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Governance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Tidak ada klaim hasil pasti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Tidak ada klaim ROI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Reward adalah benefit bersyarat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Admin memantau wallet, reward, dan laporan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PROGRESS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Posisi Saat Ini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TapGo hampir siap menuju tahap komersialisasi.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Sudah disiapkan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Backend production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Membership engine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Wallet dan PPOB separation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engine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Financial engine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Admin/Super Admin panel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Legal dan Google Play assets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Status berjalan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Midtrans menunggu aktivasi channel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APK/AAB final setelah payment flow stabil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Cohort data setelah peluncuran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Partner pipeline execution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GROWTH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Strategi Pertumbuhan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Akuisisi komunitas, merchant, dan member secara bertahap.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1920240"/>
            <a:ext cx="3246120" cy="3337560"/>
          </a:xfrm>
          <a:prstGeom prst="roundRect">
            <a:avLst>
              <a:gd name="adj" fmla="val 2817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87552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</a:rPr>
              <a:t>Tahun 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05840" y="2871216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Full Feature + Launch Banten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Validasi model bisnis di wilayah Banten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Aktivasi komunitas dan merchant lokal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Validasi pembayaran, wallet, membership, PPOB, referral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4434840" y="1920240"/>
            <a:ext cx="3246120" cy="3337560"/>
          </a:xfrm>
          <a:prstGeom prst="roundRect">
            <a:avLst>
              <a:gd name="adj" fmla="val 2817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90872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A3D91"/>
                </a:solidFill>
              </a:rPr>
              <a:t>Tahun 2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709160" y="2871216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</a:rPr>
              <a:t>Ekspansi Jabodetabek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</a:rPr>
              <a:t>Perluasan merchant, komunitas, PPOB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</a:rPr>
              <a:t>Pilot Food, Delivery, Ride, Car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172033"/>
                </a:solidFill>
              </a:rPr>
              <a:t>Perkuat laporan dan operasi</a:t>
            </a:r>
            <a:endParaRPr lang="en-US" sz="1180" dirty="0"/>
          </a:p>
        </p:txBody>
      </p:sp>
      <p:sp>
        <p:nvSpPr>
          <p:cNvPr id="15" name="Shape 12"/>
          <p:cNvSpPr/>
          <p:nvPr/>
        </p:nvSpPr>
        <p:spPr>
          <a:xfrm>
            <a:off x="8138160" y="1920240"/>
            <a:ext cx="3246120" cy="3337560"/>
          </a:xfrm>
          <a:prstGeom prst="roundRect">
            <a:avLst>
              <a:gd name="adj" fmla="val 2817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94192" y="22128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5C451"/>
                </a:solidFill>
              </a:rPr>
              <a:t>Tahun 3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412480" y="2871216"/>
            <a:ext cx="2651760" cy="16459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Ekspansi Regional Nasional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TapGo Travel dan kemitraan financial services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Optimasi retention dan engagement</a:t>
            </a:r>
            <a:endParaRPr lang="en-US" sz="1180" dirty="0"/>
          </a:p>
          <a:p>
            <a:pPr indent="0" marL="0">
              <a:buNone/>
            </a:pPr>
            <a:r>
              <a:rPr lang="en-US" sz="1180" dirty="0">
                <a:solidFill>
                  <a:srgbClr val="FFFFFF"/>
                </a:solidFill>
              </a:rPr>
              <a:t>Ekosistem merchant lebih luas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FINANSIAL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Unit Economics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Illustrative Financial Scenario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783080"/>
          <a:ext cx="10652760" cy="3611880"/>
        </p:xfrm>
        <a:graphic>
          <a:graphicData uri="http://schemas.openxmlformats.org/drawingml/2006/table">
            <a:tbl>
              <a:tblPr/>
              <a:tblGrid>
                <a:gridCol w="2663190"/>
                <a:gridCol w="2663190"/>
                <a:gridCol w="2663190"/>
                <a:gridCol w="2663190"/>
              </a:tblGrid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Metrik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Konservatif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Dasar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Optimistis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Konversi member berbayar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4%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5%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6%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Pendapatan paket / member berbayar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1,125 Juta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1,125 Juta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1,125 Juta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Pendapatan platform / pengguna aktif / tahun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20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35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50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CAC / pengguna terdaftar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25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20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Rp 15 Ribu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Asumsi margin kotor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35%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40%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20" dirty="0">
                          <a:solidFill>
                            <a:srgbClr val="172033"/>
                          </a:solidFill>
                        </a:rPr>
                        <a:t>45%</a:t>
                      </a:r>
                      <a:endParaRPr lang="en-US" sz="102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22960" y="5715000"/>
            <a:ext cx="1042416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C7D2E5"/>
                </a:solidFill>
              </a:rPr>
              <a:t>Angka harus divalidasi memakai cohort data setelah peluncuran.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FINANSIAL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Jalur Menuju Break-even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Illustrative Financial Scenario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37360"/>
          <a:ext cx="11201400" cy="2057400"/>
        </p:xfrm>
        <a:graphic>
          <a:graphicData uri="http://schemas.openxmlformats.org/drawingml/2006/table">
            <a:tbl>
              <a:tblPr/>
              <a:tblGrid>
                <a:gridCol w="1866900"/>
                <a:gridCol w="1866900"/>
                <a:gridCol w="1866900"/>
                <a:gridCol w="1866900"/>
                <a:gridCol w="1866900"/>
                <a:gridCol w="1866900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Tahun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Pengguna Terdaftar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Pendapatan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Biaya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Laba Kotor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Catatan Break-even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Tahun 1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10.000 Pengguna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550 Juta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330 Juta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220 Juta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Validasi unit economics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Tahun 2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50.000 Pengguna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3,56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2,2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1,36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Mendekati skala operasional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Tahun 3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100.000 Pengguna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8,75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5,25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Rp 3,5 Miliar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</a:rPr>
                        <a:t>Potensi break-even jika CAC dan retention stabil</a:t>
                      </a:r>
                      <a:endParaRPr lang="en-US" sz="84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77240" y="4251960"/>
            <a:ext cx="10607040" cy="1005840"/>
          </a:xfrm>
          <a:prstGeom prst="roundRect">
            <a:avLst>
              <a:gd name="adj" fmla="val 9091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05840" y="4553712"/>
            <a:ext cx="10149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10" b="1" dirty="0">
                <a:solidFill>
                  <a:srgbClr val="FFFFFF"/>
                </a:solidFill>
              </a:rPr>
              <a:t>Estimasi: biaya operasional tetap Rp 250 Juta-Rp 400 Juta/bulan, margin kontribusi 35%-45%, pendapatan bulanan untuk break-even operasional sekitar Rp 715 Juta-Rp 1,15 Miliar. Ini bukan janji break-even atau ROI.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FINANSIAL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Potensi Nilai Investasi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Seluruh proyeksi adalah ilustrasi skenario bisnis.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28800"/>
          <a:ext cx="10652760" cy="2194560"/>
        </p:xfrm>
        <a:graphic>
          <a:graphicData uri="http://schemas.openxmlformats.org/drawingml/2006/table">
            <a:tbl>
              <a:tblPr/>
              <a:tblGrid>
                <a:gridCol w="2663190"/>
                <a:gridCol w="2663190"/>
                <a:gridCol w="2663190"/>
                <a:gridCol w="266319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Skenario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Pengguna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Pendapatan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Laba Operasional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Konservatif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10.000 Pengguna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550 Juta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80 Juta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Moderat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50.000 Pengguna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3,56 Miliar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650 Juta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Agresif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100.000 Pengguna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8,75 Miliar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30" dirty="0">
                          <a:solidFill>
                            <a:srgbClr val="172033"/>
                          </a:solidFill>
                        </a:rPr>
                        <a:t>Rp 1,8 Miliar</a:t>
                      </a:r>
                      <a:endParaRPr lang="en-US" sz="103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868680" y="4434840"/>
            <a:ext cx="10424160" cy="713232"/>
          </a:xfrm>
          <a:prstGeom prst="roundRect">
            <a:avLst>
              <a:gd name="adj" fmla="val 12821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1097280" y="4681728"/>
            <a:ext cx="99669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Disclaimer: Seluruh proyeksi merupakan ilustrasi skenario bisnis dan bukan jaminan hasil investasi.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FINANSIAL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Ilustrasi Potensi Hasil Investor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Asumsi ilustratif, bukan janji keuntungan.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37360"/>
          <a:ext cx="11018520" cy="2148840"/>
        </p:xfrm>
        <a:graphic>
          <a:graphicData uri="http://schemas.openxmlformats.org/drawingml/2006/table">
            <a:tbl>
              <a:tblPr/>
              <a:tblGrid>
                <a:gridCol w="2754630"/>
                <a:gridCol w="2754630"/>
                <a:gridCol w="2754630"/>
                <a:gridCol w="2754630"/>
              </a:tblGrid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Skenario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Investasi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Laba Operasional Tahunan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Ilustrasi 20% Economic Participation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Konservatif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4 Miliar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80 Juta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16 Juta / tahun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Moderat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4 Miliar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650 Juta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130 Juta / tahun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Agresif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4 Miliar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1,8 Miliar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</a:rPr>
                        <a:t>Rp 360 Juta / tahun</a:t>
                      </a:r>
                      <a:endParaRPr lang="en-US" sz="9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731520" y="4224528"/>
            <a:ext cx="10789920" cy="1078992"/>
          </a:xfrm>
          <a:prstGeom prst="roundRect">
            <a:avLst>
              <a:gd name="adj" fmla="val 8475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960120" y="4553712"/>
            <a:ext cx="1033272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FFFFFF"/>
                </a:solidFill>
              </a:rPr>
              <a:t>Angka ini adalah ilustrasi skenario bisnis, bukan jaminan keuntungan, bukan janji ROI, dan bergantung pada kinerja aktual, struktur investasi, serta kesepakatan final.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FUNDING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Kebutuhan Investasi TapGo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Total investasi yang ditargetkan: Rp 4 Miliar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91640"/>
          <a:ext cx="5486400" cy="42519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Area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Nominal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Marketing &amp; Akuisisi Pengguna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1,4 Miliar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Operasional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1 Miliar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Pengembangan Produk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800 Juta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Ekspansi Merchant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400 Juta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Legal &amp; Kepatuhan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200 Juta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Cadangan Modal Kerja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200 Juta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149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72033"/>
                          </a:solidFill>
                        </a:rPr>
                        <a:t>Rp 4 Miliar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629400" y="1920240"/>
            <a:ext cx="4389120" cy="3474720"/>
          </a:xfrm>
          <a:prstGeom prst="roundRect">
            <a:avLst>
              <a:gd name="adj" fmla="val 2632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949440" y="2240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451"/>
                </a:solidFill>
              </a:rPr>
              <a:t>Narasi profesional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6949440" y="2788920"/>
            <a:ext cx="3611880" cy="11887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Pendanaan Rp 4 Miliar ditujukan untuk membawa TapGo dari kesiapan produk menuju aktivasi pasar Banten, penguatan operasi, onboarding merchant, kepatuhan, dan runway awal yang lebih sehat.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MILESTONE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Dana Rp 4 Miliar ke Target 12 Bulan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Pendanaan diarahkan untuk validasi Banten, bukan ekspansi nasional langsung.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82880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0B2348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005840" y="2011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1"/>
                </a:solidFill>
              </a:rPr>
              <a:t>Market Focus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51760" y="20116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Wilayah Banten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F7FAFF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01168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91"/>
                </a:solidFill>
              </a:rPr>
              <a:t>Product Target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138160" y="201168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Full Feature TapGo Ecosystem selesai 2026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7240" y="306324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0B2348"/>
          </a:solidFill>
          <a:ln w="12700">
            <a:solidFill>
              <a:srgbClr val="12A67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1005840" y="32461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C451"/>
                </a:solidFill>
              </a:rPr>
              <a:t>Business Target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651760" y="3246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Membership, PPOB, Wallet, Merchant, Midtrans, Community Growth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3063240"/>
            <a:ext cx="4892040" cy="914400"/>
          </a:xfrm>
          <a:prstGeom prst="roundRect">
            <a:avLst>
              <a:gd name="adj" fmla="val 10000"/>
            </a:avLst>
          </a:prstGeom>
          <a:solidFill>
            <a:srgbClr val="F7FAFF"/>
          </a:solidFill>
          <a:ln w="12700">
            <a:solidFill>
              <a:srgbClr val="F97316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92240" y="324612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91"/>
                </a:solidFill>
              </a:rPr>
              <a:t>Expansion Target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138160" y="324612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72033"/>
                </a:solidFill>
              </a:rPr>
              <a:t>Persiapan ekspansi Jabodetabek 2027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777240" y="4800600"/>
            <a:ext cx="10378440" cy="713232"/>
          </a:xfrm>
          <a:prstGeom prst="roundRect">
            <a:avLst>
              <a:gd name="adj" fmla="val 12821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1005840" y="5029200"/>
            <a:ext cx="992124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Target utama tahun 2026 bukan ekspansi nasional, melainkan penyelesaian ekosistem TapGo secara penuh dan validasi model bisnis di wilayah Banten sebagai launching market.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MILESTONE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Fase Eksekusi 12 Bulan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Dua fase untuk membangun traction yang bisa diukur.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1828800"/>
            <a:ext cx="5257800" cy="3886200"/>
          </a:xfrm>
          <a:prstGeom prst="roundRect">
            <a:avLst>
              <a:gd name="adj" fmla="val 2353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3886200"/>
          </a:xfrm>
          <a:prstGeom prst="roundRect">
            <a:avLst>
              <a:gd name="adj" fmla="val 2353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1005840" y="2084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451"/>
                </a:solidFill>
              </a:rPr>
              <a:t>FASE 1 - LAUNCH BANTEN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1005840" y="243230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7D2E5"/>
                </a:solidFill>
              </a:rPr>
              <a:t>6 bulan pertama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2788920"/>
            <a:ext cx="4389120" cy="2514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Launch resmi Google Play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Aktivasi payment channel Midtrans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Akuisisi pengguna awal Banten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Aktivasi komunitas dan member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Merchant onboarding awal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PPOB live production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FFFFFF"/>
                </a:solidFill>
              </a:rPr>
              <a:t>Validasi unit economics</a:t>
            </a:r>
            <a:endParaRPr lang="en-US" sz="1130" dirty="0"/>
          </a:p>
        </p:txBody>
      </p:sp>
      <p:sp>
        <p:nvSpPr>
          <p:cNvPr id="14" name="Text 11"/>
          <p:cNvSpPr/>
          <p:nvPr/>
        </p:nvSpPr>
        <p:spPr>
          <a:xfrm>
            <a:off x="6537960" y="2084832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A3D91"/>
                </a:solidFill>
              </a:rPr>
              <a:t>FASE 2 - PENGUATAN EKOSISTEM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6537960" y="2432304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085"/>
                </a:solidFill>
              </a:rPr>
              <a:t>6-12 bulan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37960" y="2788920"/>
            <a:ext cx="438912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Pertumbuhan pengguna aktif Banten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Ekspansi merchant partner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Aktivasi PPOB berulang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Penyempurnaan wallet ecosystem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Penguatan dashboard operasional</a:t>
            </a:r>
            <a:endParaRPr lang="en-US" sz="1130" dirty="0"/>
          </a:p>
          <a:p>
            <a:pPr marL="152400" indent="-152400">
              <a:buSzPct val="100000"/>
              <a:buChar char="•"/>
            </a:pPr>
            <a:r>
              <a:rPr lang="en-US" sz="1130" dirty="0">
                <a:solidFill>
                  <a:srgbClr val="172033"/>
                </a:solidFill>
              </a:rPr>
              <a:t>Persiapan ekspansi regional</a:t>
            </a:r>
            <a:endParaRPr lang="en-US" sz="11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OUTPUT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Output dari Investasi Rp 4 Miliar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Apa yang harus dihasilkan dari pendanaan tahap ini.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85800" y="178308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783080"/>
            <a:ext cx="5212080" cy="4114800"/>
          </a:xfrm>
          <a:prstGeom prst="roundRect">
            <a:avLst>
              <a:gd name="adj" fmla="val 2222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0574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C451"/>
                </a:solidFill>
              </a:rPr>
              <a:t>Dana digunakan untuk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87552" y="2542032"/>
            <a:ext cx="443484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Mencapai product-market fit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Validasi model bisnis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Membangun basis pengguna aktif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Membangun merchant network awal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Menyiapkan ekspansi regional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FFFFFF"/>
                </a:solidFill>
              </a:rPr>
              <a:t>Menciptakan data traction nyata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537960" y="205740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3D91"/>
                </a:solidFill>
              </a:rPr>
              <a:t>Output yang diharapkan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6565392" y="2542032"/>
            <a:ext cx="4434840" cy="2697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2033"/>
                </a:solidFill>
              </a:rPr>
              <a:t>Banten menjadi market pembuktian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2033"/>
                </a:solidFill>
              </a:rPr>
              <a:t>Unit economics awal tervalidasi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2033"/>
                </a:solidFill>
              </a:rPr>
              <a:t>Payment, wallet, PPOB, membership, referral, merchant flow stabil</a:t>
            </a:r>
            <a:endParaRPr lang="en-US" sz="1230" dirty="0"/>
          </a:p>
          <a:p>
            <a:pPr marL="152400" indent="-152400">
              <a:buSzPct val="100000"/>
              <a:buChar char="•"/>
            </a:pPr>
            <a:r>
              <a:rPr lang="en-US" sz="1230" dirty="0">
                <a:solidFill>
                  <a:srgbClr val="172033"/>
                </a:solidFill>
              </a:rPr>
              <a:t>Investor memperoleh data operasional untuk keputusan tahap berikutnya</a:t>
            </a:r>
            <a:endParaRPr lang="en-US" sz="12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VALUE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Nilai yang Diciptakan dari Investasi Rp 4 Miliar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Fokus pada penciptaan nilai perusahaan dan pertumbuhan bisnis.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1828800"/>
            <a:ext cx="3246120" cy="3886200"/>
          </a:xfrm>
          <a:prstGeom prst="roundRect">
            <a:avLst>
              <a:gd name="adj" fmla="val 2817"/>
            </a:avLst>
          </a:prstGeom>
          <a:solidFill>
            <a:srgbClr val="0B2348"/>
          </a:solidFill>
          <a:ln w="12700">
            <a:solidFill>
              <a:srgbClr val="0B66D8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012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C451"/>
                </a:solidFill>
              </a:rPr>
              <a:t>12 bulan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</a:rPr>
              <a:t>Launch Banten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</a:rPr>
              <a:t>Product-Market Fit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</a:rPr>
              <a:t>Merchant Network Awal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FFFFFF"/>
                </a:solidFill>
              </a:rPr>
              <a:t>Membership Ecosystem Aktif</a:t>
            </a:r>
            <a:endParaRPr lang="en-US" sz="1220" dirty="0"/>
          </a:p>
        </p:txBody>
      </p:sp>
      <p:sp>
        <p:nvSpPr>
          <p:cNvPr id="12" name="Shape 9"/>
          <p:cNvSpPr/>
          <p:nvPr/>
        </p:nvSpPr>
        <p:spPr>
          <a:xfrm>
            <a:off x="4434840" y="1828800"/>
            <a:ext cx="3246120" cy="3886200"/>
          </a:xfrm>
          <a:prstGeom prst="roundRect">
            <a:avLst>
              <a:gd name="adj" fmla="val 2817"/>
            </a:avLst>
          </a:prstGeom>
          <a:solidFill>
            <a:srgbClr val="F7FAFF"/>
          </a:solidFill>
          <a:ln w="12700">
            <a:solidFill>
              <a:srgbClr val="12A67A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6344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3D91"/>
                </a:solidFill>
              </a:rPr>
              <a:t>24 bulan</a:t>
            </a:r>
            <a:endParaRPr lang="en-US" sz="2100" dirty="0"/>
          </a:p>
        </p:txBody>
      </p:sp>
      <p:sp>
        <p:nvSpPr>
          <p:cNvPr id="14" name="Text 11"/>
          <p:cNvSpPr/>
          <p:nvPr/>
        </p:nvSpPr>
        <p:spPr>
          <a:xfrm>
            <a:off x="4709160" y="274320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Ekspansi Jabodetabek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Pertumbuhan Pengguna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Peningkatan Transaksi PPOB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Penguatan Wallet Ecosystem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8138160" y="1828800"/>
            <a:ext cx="3246120" cy="3886200"/>
          </a:xfrm>
          <a:prstGeom prst="roundRect">
            <a:avLst>
              <a:gd name="adj" fmla="val 2817"/>
            </a:avLst>
          </a:prstGeom>
          <a:solidFill>
            <a:srgbClr val="FFF7DB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366760" y="21031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A3D91"/>
                </a:solidFill>
              </a:rPr>
              <a:t>36 bulan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8412480" y="2743200"/>
            <a:ext cx="2606040" cy="2331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Ekspansi Regional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Multi-Service Ecosystem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Strategic Partnership Opportunities</a:t>
            </a:r>
            <a:endParaRPr lang="en-US" sz="1220" dirty="0"/>
          </a:p>
          <a:p>
            <a:pPr marL="152400" indent="-152400">
              <a:buSzPct val="100000"/>
              <a:buChar char="•"/>
            </a:pPr>
            <a:r>
              <a:rPr lang="en-US" sz="1220" dirty="0">
                <a:solidFill>
                  <a:srgbClr val="172033"/>
                </a:solidFill>
              </a:rPr>
              <a:t>Pendanaan Tahap Berikutnya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FUNDING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Penggunaan Dana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Penggunaan investasi secara rinci dan berbasis milestone.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18562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35%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600200" y="1828800"/>
            <a:ext cx="3200400" cy="237744"/>
          </a:xfrm>
          <a:prstGeom prst="rect">
            <a:avLst/>
          </a:prstGeom>
          <a:solidFill>
            <a:srgbClr val="0B66D8"/>
          </a:solidFill>
          <a:ln w="12700">
            <a:solidFill>
              <a:srgbClr val="0B66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937760" y="18470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Marketing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68680" y="235915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25%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1600200" y="2331720"/>
            <a:ext cx="2286000" cy="237744"/>
          </a:xfrm>
          <a:prstGeom prst="rect">
            <a:avLst/>
          </a:prstGeom>
          <a:solidFill>
            <a:srgbClr val="12A67A"/>
          </a:solidFill>
          <a:ln w="12700">
            <a:solidFill>
              <a:srgbClr val="12A67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023360" y="235000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Operasional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68680" y="286207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20%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1600200" y="2834640"/>
            <a:ext cx="1828800" cy="237744"/>
          </a:xfrm>
          <a:prstGeom prst="rect">
            <a:avLst/>
          </a:prstGeom>
          <a:solidFill>
            <a:srgbClr val="F5C451"/>
          </a:solidFill>
          <a:ln w="12700">
            <a:solidFill>
              <a:srgbClr val="F5C4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66160" y="285292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Produk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" y="33649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10%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1600200" y="3337560"/>
            <a:ext cx="914400" cy="23774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651760" y="335584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Merchant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68680" y="386791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1600200" y="3840480"/>
            <a:ext cx="457200" cy="237744"/>
          </a:xfrm>
          <a:prstGeom prst="rect">
            <a:avLst/>
          </a:prstGeom>
          <a:solidFill>
            <a:srgbClr val="5B5BD6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194560" y="385876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Legal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437083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1600200" y="4343400"/>
            <a:ext cx="457200" cy="23774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194560" y="4361688"/>
            <a:ext cx="256032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C7D2E5"/>
                </a:solidFill>
              </a:rPr>
              <a:t>Modal Kerja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989320" y="169164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6309360" y="2057400"/>
            <a:ext cx="4526280" cy="30632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</a:rPr>
              <a:t>Marketing: akuisisi member, aktivasi Banten, kampanye komunitas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</a:rPr>
              <a:t>Operasional: dukungan pelanggan, SOP, operasional admin, onboarding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</a:rPr>
              <a:t>Produk: stabilitas aplikasi, analitik, keamanan, operasional pembayaran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</a:rPr>
              <a:t>Merchant: program merchant, PPOB, ekosistem benefit</a:t>
            </a:r>
            <a:endParaRPr lang="en-US" sz="1110" dirty="0"/>
          </a:p>
          <a:p>
            <a:pPr marL="152400" indent="-152400">
              <a:buSzPct val="100000"/>
              <a:buChar char="•"/>
            </a:pPr>
            <a:r>
              <a:rPr lang="en-US" sz="1110" dirty="0">
                <a:solidFill>
                  <a:srgbClr val="172033"/>
                </a:solidFill>
              </a:rPr>
              <a:t>Legal &amp; cadangan: legal, privasi, manajemen risiko, cadangan kas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ADVANTAGE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Keunggulan Kompetitif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Platform operasional komunitas, bukan hanya aplikasi transaksi.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Keunggulan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Membership berjenjang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Wallet dan ledger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PPOB engagement layer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Referral dan reward terukur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Merchant dan community commerce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Diferensiasi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Mulai dari komunitas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Ekspansi layanan bertahap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Admin dan financial monitoring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Partner-led ecosystem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EXIT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Potensi Exit Investor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Potensi arah strategis tanpa klaim exit atau valuasi.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Potensi pertumbuhan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Ekspansi regional berbasis kota dan komunitas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Ekosistem merchant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Travel dan layanan partner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Financial services melalui kemitraan patuh regulasi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Opsi strategis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Kemitraan strategis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Potensi akuisisi korporasi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Kemitraan pembayaran/PPOB/travel/mobilitas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Lapisan distribusi untuk komunitas dan merchant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RISK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Risiko &amp; Mitigasi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Investor profesional membutuhkan visibilitas risiko yang jelas.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27080" cy="3977640"/>
        </p:xfrm>
        <a:graphic>
          <a:graphicData uri="http://schemas.openxmlformats.org/drawingml/2006/table">
            <a:tbl>
              <a:tblPr/>
              <a:tblGrid>
                <a:gridCol w="3642360"/>
                <a:gridCol w="3642360"/>
                <a:gridCol w="3642360"/>
              </a:tblGrid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Risiko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Dampak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Mitigasi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Risiko regulasi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Layanan finansial terlambat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Kemitraan patuh regulasi, legal review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Ketergantungan pembayaran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Channel pembayaran tertunda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Rencana multi-channel, Midtrans follow-up, SOP cadangan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Risiko akuisisi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CAC lebih tinggi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Aktivasi komunitas, kanal partner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Risiko kompetisi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Persaingan platform besar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Fokus komunitas lokal dan merchant daerah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Risiko eksekusi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Operasi tidak scalable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70" dirty="0">
                          <a:solidFill>
                            <a:srgbClr val="172033"/>
                          </a:solidFill>
                        </a:rPr>
                        <a:t>SOP, rollout bertahap, monitoring data</a:t>
                      </a:r>
                      <a:endParaRPr lang="en-US" sz="870" dirty="0"/>
                    </a:p>
                  </a:txBody>
                  <a:tcPr marL="54864" marR="54864" marT="54864" marB="54864" anchor="mid">
                    <a:lnL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7E5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868680" y="5897880"/>
            <a:ext cx="1033272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060" dirty="0">
                <a:solidFill>
                  <a:srgbClr val="C7D2E5"/>
                </a:solidFill>
              </a:rPr>
              <a:t>Prinsip: TapGo mengelola risiko melalui rollout bertahap, kepatuhan, strategi partner, dan kontrol operasional.</a:t>
            </a:r>
            <a:endParaRPr lang="en-US" sz="10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Peluang untuk Investor dan Partner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Relevan untuk angel, strategic, venture, dan corporate partner.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58368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63640" y="1828800"/>
            <a:ext cx="5257800" cy="4160520"/>
          </a:xfrm>
          <a:prstGeom prst="roundRect">
            <a:avLst>
              <a:gd name="adj" fmla="val 2198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C451"/>
                </a:solidFill>
              </a:rPr>
              <a:t>Investor fit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2697480"/>
            <a:ext cx="443484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Angel: tahap awal komersialisasi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Strategic: sinergi distribusi dan layanan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Venture: platform multi sumber pendapatan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FFFFFF"/>
                </a:solidFill>
              </a:rPr>
              <a:t>Corporate: merchant dan komunitas</a:t>
            </a:r>
            <a:endParaRPr lang="en-US" sz="1320" dirty="0"/>
          </a:p>
        </p:txBody>
      </p:sp>
      <p:sp>
        <p:nvSpPr>
          <p:cNvPr id="13" name="Text 10"/>
          <p:cNvSpPr/>
          <p:nvPr/>
        </p:nvSpPr>
        <p:spPr>
          <a:xfrm>
            <a:off x="6583680" y="210312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A3D91"/>
                </a:solidFill>
              </a:rPr>
              <a:t>Capital enables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6629400" y="2697480"/>
            <a:ext cx="4343400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Aktivasi pasar Banten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Kepatuhan dan support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Payment/partner readiness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Data dan reporting depth</a:t>
            </a:r>
            <a:endParaRPr lang="en-US" sz="1320" dirty="0"/>
          </a:p>
          <a:p>
            <a:pPr marL="152400" indent="-152400">
              <a:buSzPct val="100000"/>
              <a:buChar char="•"/>
            </a:pPr>
            <a:r>
              <a:rPr lang="en-US" sz="1320" dirty="0">
                <a:solidFill>
                  <a:srgbClr val="172033"/>
                </a:solidFill>
              </a:rPr>
              <a:t>Ecosystem expansion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Roadmap 2026-2028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Eksekusi dari Banten menuju ekspansi regional.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77240" y="1828800"/>
            <a:ext cx="3154680" cy="914400"/>
          </a:xfrm>
          <a:prstGeom prst="chevron">
            <a:avLst/>
          </a:prstGeom>
          <a:solidFill>
            <a:srgbClr val="0B66D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2026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777240" y="3063240"/>
            <a:ext cx="2971800" cy="2057400"/>
          </a:xfrm>
          <a:prstGeom prst="roundRect">
            <a:avLst>
              <a:gd name="adj" fmla="val 4444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78408" y="326440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Full Feature + Launch Banten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Fokus: Membership, Wallet, PPOB, Referral, Reward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Disiapkan: Ride, Car, Food, Mart, Delivery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Validasi model bisnis di Banten</a:t>
            </a:r>
            <a:endParaRPr lang="en-US" sz="970" dirty="0"/>
          </a:p>
        </p:txBody>
      </p:sp>
      <p:sp>
        <p:nvSpPr>
          <p:cNvPr id="13" name="Shape 10"/>
          <p:cNvSpPr/>
          <p:nvPr/>
        </p:nvSpPr>
        <p:spPr>
          <a:xfrm>
            <a:off x="4434840" y="1828800"/>
            <a:ext cx="3154680" cy="914400"/>
          </a:xfrm>
          <a:prstGeom prst="chevron">
            <a:avLst/>
          </a:prstGeom>
          <a:solidFill>
            <a:srgbClr val="12A67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2027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4434840" y="3063240"/>
            <a:ext cx="2971800" cy="2057400"/>
          </a:xfrm>
          <a:prstGeom prst="roundRect">
            <a:avLst>
              <a:gd name="adj" fmla="val 4444"/>
            </a:avLst>
          </a:prstGeom>
          <a:solidFill>
            <a:srgbClr val="0B2348"/>
          </a:solidFill>
          <a:ln w="12700">
            <a:solidFill>
              <a:srgbClr val="164A8D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36008" y="326440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Ekspansi Banten ke Jabodetabek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Ekspansi merchant dan komunitas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Validasi mobilitas dan food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FFFFF"/>
                </a:solidFill>
              </a:rPr>
              <a:t>Penguatan PPOB dan wallet</a:t>
            </a:r>
            <a:endParaRPr lang="en-US" sz="970" dirty="0"/>
          </a:p>
        </p:txBody>
      </p:sp>
      <p:sp>
        <p:nvSpPr>
          <p:cNvPr id="17" name="Shape 14"/>
          <p:cNvSpPr/>
          <p:nvPr/>
        </p:nvSpPr>
        <p:spPr>
          <a:xfrm>
            <a:off x="8092440" y="1828800"/>
            <a:ext cx="3154680" cy="914400"/>
          </a:xfrm>
          <a:prstGeom prst="chevron">
            <a:avLst/>
          </a:prstGeom>
          <a:solidFill>
            <a:srgbClr val="F5C451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75320" y="21031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142E"/>
                </a:solidFill>
              </a:rPr>
              <a:t>2028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8092440" y="3063240"/>
            <a:ext cx="2971800" cy="2057400"/>
          </a:xfrm>
          <a:prstGeom prst="roundRect">
            <a:avLst>
              <a:gd name="adj" fmla="val 4444"/>
            </a:avLst>
          </a:prstGeom>
          <a:solidFill>
            <a:srgbClr val="FFF7DB"/>
          </a:solidFill>
          <a:ln w="12700">
            <a:solidFill>
              <a:srgbClr val="F5C451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8293608" y="3264408"/>
            <a:ext cx="2514600" cy="1508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172033"/>
                </a:solidFill>
              </a:rPr>
              <a:t>Ekspansi Regional Nasional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72033"/>
                </a:solidFill>
              </a:rPr>
              <a:t>Regional scale-up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72033"/>
                </a:solidFill>
              </a:rPr>
              <a:t>Strategic partnership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72033"/>
                </a:solidFill>
              </a:rPr>
              <a:t>Travel dan selected financial services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172033"/>
                </a:solidFill>
              </a:rPr>
              <a:t>Optimasi retention dan monetisasi</a:t>
            </a:r>
            <a:endParaRPr lang="en-US" sz="9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614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42E"/>
          </a:solidFill>
          <a:ln w="12700">
            <a:solidFill>
              <a:srgbClr val="06142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-1371600"/>
            <a:ext cx="4937760" cy="4937760"/>
          </a:xfrm>
          <a:prstGeom prst="arc">
            <a:avLst/>
          </a:prstGeom>
          <a:solidFill>
            <a:srgbClr val="0B66D8">
              <a:alpha val="16000"/>
            </a:srgbClr>
          </a:solidFill>
          <a:ln w="12700">
            <a:solidFill>
              <a:srgbClr val="0B66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005840" y="4754880"/>
            <a:ext cx="3840480" cy="3840480"/>
          </a:xfrm>
          <a:prstGeom prst="arc">
            <a:avLst/>
          </a:prstGeom>
          <a:solidFill>
            <a:srgbClr val="12A67A">
              <a:alpha val="12000"/>
            </a:srgbClr>
          </a:solidFill>
          <a:ln w="12700">
            <a:solidFill>
              <a:srgbClr val="12A67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4114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F5C451"/>
                </a:solidFill>
              </a:rPr>
              <a:t>PENUTUP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" y="713232"/>
            <a:ext cx="8869680" cy="53035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</a:rPr>
              <a:t>Visi TapGo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621792" y="1234440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C7D2E5"/>
                </a:solidFill>
              </a:rPr>
              <a:t>Menjadi platform membership dan komunitas digital terdepan di Indonesia.</a:t>
            </a:r>
            <a:endParaRPr lang="en-US" sz="1200" dirty="0"/>
          </a:p>
        </p:txBody>
      </p:sp>
      <p:pic>
        <p:nvPicPr>
          <p:cNvPr id="8" name="Image 0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52760" y="384048"/>
            <a:ext cx="566928" cy="475488"/>
          </a:xfrm>
          <a:prstGeom prst="rect">
            <a:avLst/>
          </a:prstGeom>
        </p:spPr>
      </p:pic>
      <p:pic>
        <p:nvPicPr>
          <p:cNvPr id="9" name="Image 1" descr="/Users/macbook/Documents/FriTekno/Projects/Tapgo/apps/user_app/assets/images/tapgo_logo.jpe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4520"/>
            <a:ext cx="1051560" cy="8686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57400" y="1920240"/>
            <a:ext cx="85953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TapGo membangun operating layer untuk komunitas digital: membership, wallet, PPOB, referral, reward, merchant, dan layanan ekosistem dalam satu platform.</a:t>
            </a:r>
            <a:endParaRPr lang="en-US" sz="2200" dirty="0"/>
          </a:p>
        </p:txBody>
      </p:sp>
      <p:sp>
        <p:nvSpPr>
          <p:cNvPr id="11" name="Shape 7"/>
          <p:cNvSpPr/>
          <p:nvPr/>
        </p:nvSpPr>
        <p:spPr>
          <a:xfrm>
            <a:off x="777240" y="4251960"/>
            <a:ext cx="10607040" cy="804672"/>
          </a:xfrm>
          <a:prstGeom prst="roundRect">
            <a:avLst>
              <a:gd name="adj" fmla="val 11364"/>
            </a:avLst>
          </a:prstGeom>
          <a:solidFill>
            <a:srgbClr val="F7FAFF"/>
          </a:solidFill>
          <a:ln w="12700">
            <a:solidFill>
              <a:srgbClr val="D7E5F7">
                <a:alpha val="70000"/>
              </a:srgbClr>
            </a:solidFill>
            <a:prstDash val="solid"/>
          </a:ln>
          <a:effectLst>
            <a:outerShdw sx="100000" sy="100000" kx="0" ky="0" algn="bl" rotWithShape="0" blurRad="25400" dist="50800" dir="2700000">
              <a:srgbClr val="000000">
                <a:alpha val="16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1005840" y="4553712"/>
            <a:ext cx="101498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33"/>
                </a:solidFill>
              </a:rPr>
              <a:t>PT. TapGo Lion Indonesia  •  tapgolion.id  •  support@tapgolion.id  •  +62 838-0025-5588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3A4BC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PT. TapGo Lion Indonesia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Deck TapGo Final</dc:title>
  <dc:subject>Investor Deck TapGo Final</dc:subject>
  <dc:creator>PT. TapGo Lion Indonesia</dc:creator>
  <cp:lastModifiedBy>PT. TapGo Lion Indonesia</cp:lastModifiedBy>
  <cp:revision>1</cp:revision>
  <dcterms:created xsi:type="dcterms:W3CDTF">2026-06-13T12:45:11Z</dcterms:created>
  <dcterms:modified xsi:type="dcterms:W3CDTF">2026-06-13T12:45:11Z</dcterms:modified>
</cp:coreProperties>
</file>