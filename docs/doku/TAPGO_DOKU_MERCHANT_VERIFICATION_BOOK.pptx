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36016e07254e7d" /><Relationship Type="http://schemas.openxmlformats.org/officeDocument/2006/relationships/extended-properties" Target="/docProps/app.xml" Id="Rf30ccd0f9da64c29" /><Relationship Type="http://schemas.openxmlformats.org/officeDocument/2006/relationships/officeDocument" Target="/ppt/presentation.xml" Id="R40ef01a95dd34b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26b087ce894dd0"/>
  </p:sldMasterIdLst>
  <p:notesMasterIdLst>
    <p:notesMasterId xmlns:r="http://schemas.openxmlformats.org/officeDocument/2006/relationships" r:id="R9bee128501de4961"/>
  </p:notesMasterIdLst>
  <p:sldIdLst>
    <p:sldId xmlns:r="http://schemas.openxmlformats.org/officeDocument/2006/relationships" id="256" r:id="Raede2222103342eb"/>
    <p:sldId xmlns:r="http://schemas.openxmlformats.org/officeDocument/2006/relationships" id="257" r:id="R13da6074175f4243"/>
    <p:sldId xmlns:r="http://schemas.openxmlformats.org/officeDocument/2006/relationships" id="258" r:id="Rb090468338d24162"/>
    <p:sldId xmlns:r="http://schemas.openxmlformats.org/officeDocument/2006/relationships" id="259" r:id="Rcdd9f74cec1449a1"/>
    <p:sldId xmlns:r="http://schemas.openxmlformats.org/officeDocument/2006/relationships" id="260" r:id="R622ab7a8b03947cd"/>
    <p:sldId xmlns:r="http://schemas.openxmlformats.org/officeDocument/2006/relationships" id="261" r:id="R8cacb1bf418e4694"/>
    <p:sldId xmlns:r="http://schemas.openxmlformats.org/officeDocument/2006/relationships" id="262" r:id="R9a7ee1e9b2e04e19"/>
    <p:sldId xmlns:r="http://schemas.openxmlformats.org/officeDocument/2006/relationships" id="263" r:id="Rf2a973347bc944d5"/>
    <p:sldId xmlns:r="http://schemas.openxmlformats.org/officeDocument/2006/relationships" id="264" r:id="Rbab99fd4de3c422b"/>
    <p:sldId xmlns:r="http://schemas.openxmlformats.org/officeDocument/2006/relationships" id="265" r:id="R93fa102f56544eee"/>
    <p:sldId xmlns:r="http://schemas.openxmlformats.org/officeDocument/2006/relationships" id="266" r:id="Rafb5564324924cdd"/>
    <p:sldId xmlns:r="http://schemas.openxmlformats.org/officeDocument/2006/relationships" id="267" r:id="R0daa88742f184055"/>
    <p:sldId xmlns:r="http://schemas.openxmlformats.org/officeDocument/2006/relationships" id="268" r:id="R5ece6f9a381243ae"/>
    <p:sldId xmlns:r="http://schemas.openxmlformats.org/officeDocument/2006/relationships" id="269" r:id="R924f53961ff8479d"/>
    <p:sldId xmlns:r="http://schemas.openxmlformats.org/officeDocument/2006/relationships" id="270" r:id="R694ac3e4617b4f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9c94106cd4ce9" /><Relationship Type="http://schemas.openxmlformats.org/officeDocument/2006/relationships/slideMaster" Target="/ppt/slideMasters/slideMaster1.xml" Id="R4626b087ce894dd0" /><Relationship Type="http://schemas.openxmlformats.org/officeDocument/2006/relationships/notesMaster" Target="/ppt/notesMasters/notesMaster1.xml" Id="R9bee128501de4961" /><Relationship Type="http://schemas.openxmlformats.org/officeDocument/2006/relationships/presProps" Target="/ppt/presProps.xml" Id="R1f169e2502524054" /><Relationship Type="http://schemas.openxmlformats.org/officeDocument/2006/relationships/tableStyles" Target="/ppt/tableStyles.xml" Id="R8809c1dda2054f5f" /><Relationship Type="http://schemas.openxmlformats.org/officeDocument/2006/relationships/slide" Target="/ppt/slides/slide1.xml" Id="Raede2222103342eb" /><Relationship Type="http://schemas.openxmlformats.org/officeDocument/2006/relationships/slide" Target="/ppt/slides/slide2.xml" Id="R13da6074175f4243" /><Relationship Type="http://schemas.openxmlformats.org/officeDocument/2006/relationships/slide" Target="/ppt/slides/slide3.xml" Id="Rb090468338d24162" /><Relationship Type="http://schemas.openxmlformats.org/officeDocument/2006/relationships/slide" Target="/ppt/slides/slide4.xml" Id="Rcdd9f74cec1449a1" /><Relationship Type="http://schemas.openxmlformats.org/officeDocument/2006/relationships/slide" Target="/ppt/slides/slide5.xml" Id="R622ab7a8b03947cd" /><Relationship Type="http://schemas.openxmlformats.org/officeDocument/2006/relationships/slide" Target="/ppt/slides/slide6.xml" Id="R8cacb1bf418e4694" /><Relationship Type="http://schemas.openxmlformats.org/officeDocument/2006/relationships/slide" Target="/ppt/slides/slide7.xml" Id="R9a7ee1e9b2e04e19" /><Relationship Type="http://schemas.openxmlformats.org/officeDocument/2006/relationships/slide" Target="/ppt/slides/slide8.xml" Id="Rf2a973347bc944d5" /><Relationship Type="http://schemas.openxmlformats.org/officeDocument/2006/relationships/slide" Target="/ppt/slides/slide9.xml" Id="Rbab99fd4de3c422b" /><Relationship Type="http://schemas.openxmlformats.org/officeDocument/2006/relationships/slide" Target="/ppt/slides/slide10.xml" Id="R93fa102f56544eee" /><Relationship Type="http://schemas.openxmlformats.org/officeDocument/2006/relationships/slide" Target="/ppt/slides/slide11.xml" Id="Rafb5564324924cdd" /><Relationship Type="http://schemas.openxmlformats.org/officeDocument/2006/relationships/slide" Target="/ppt/slides/slide12.xml" Id="R0daa88742f184055" /><Relationship Type="http://schemas.openxmlformats.org/officeDocument/2006/relationships/slide" Target="/ppt/slides/slide13.xml" Id="R5ece6f9a381243ae" /><Relationship Type="http://schemas.openxmlformats.org/officeDocument/2006/relationships/slide" Target="/ppt/slides/slide14.xml" Id="R924f53961ff8479d" /><Relationship Type="http://schemas.openxmlformats.org/officeDocument/2006/relationships/slide" Target="/ppt/slides/slide15.xml" Id="R694ac3e4617b4f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b54aea4fae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34d67f94e14cb0" /><Relationship Type="http://schemas.openxmlformats.org/officeDocument/2006/relationships/notesMaster" Target="/ppt/notesMasters/notesMaster1.xml" Id="Rf545c31a38c64e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a4ab9d0d34ef6" /><Relationship Type="http://schemas.openxmlformats.org/officeDocument/2006/relationships/notesMaster" Target="/ppt/notesMasters/notesMaster1.xml" Id="R53fd1c1360c740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67856bc1dc47f9" /><Relationship Type="http://schemas.openxmlformats.org/officeDocument/2006/relationships/notesMaster" Target="/ppt/notesMasters/notesMaster1.xml" Id="R02cfcb44e5e6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71d019011f4a52" /><Relationship Type="http://schemas.openxmlformats.org/officeDocument/2006/relationships/notesMaster" Target="/ppt/notesMasters/notesMaster1.xml" Id="R7adcdc649d7b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4707169b414d60" /><Relationship Type="http://schemas.openxmlformats.org/officeDocument/2006/relationships/notesMaster" Target="/ppt/notesMasters/notesMaster1.xml" Id="R75d996aa2cb447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eb5327be9a427a" /><Relationship Type="http://schemas.openxmlformats.org/officeDocument/2006/relationships/notesMaster" Target="/ppt/notesMasters/notesMaster1.xml" Id="Rdfd5973d394544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722b75e61e4170" /><Relationship Type="http://schemas.openxmlformats.org/officeDocument/2006/relationships/notesMaster" Target="/ppt/notesMasters/notesMaster1.xml" Id="R2e276022f71d4a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d022b79bf2437f" /><Relationship Type="http://schemas.openxmlformats.org/officeDocument/2006/relationships/notesMaster" Target="/ppt/notesMasters/notesMaster1.xml" Id="Rc14e5b9a1b714e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c263744a594fe1" /><Relationship Type="http://schemas.openxmlformats.org/officeDocument/2006/relationships/notesMaster" Target="/ppt/notesMasters/notesMaster1.xml" Id="Rf0a4f3c8b0b142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3dc39ab59a4be2" /><Relationship Type="http://schemas.openxmlformats.org/officeDocument/2006/relationships/notesMaster" Target="/ppt/notesMasters/notesMaster1.xml" Id="Rfa5fc730906a4b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a60799c9bd4f15" /><Relationship Type="http://schemas.openxmlformats.org/officeDocument/2006/relationships/notesMaster" Target="/ppt/notesMasters/notesMaster1.xml" Id="Rd46f1f437fd147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65312004c346fb" /><Relationship Type="http://schemas.openxmlformats.org/officeDocument/2006/relationships/notesMaster" Target="/ppt/notesMasters/notesMaster1.xml" Id="Rbf20f88d7d984f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69046ec1e24764" /><Relationship Type="http://schemas.openxmlformats.org/officeDocument/2006/relationships/notesMaster" Target="/ppt/notesMasters/notesMaster1.xml" Id="R7340df3ce69641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1565edd1b644c4" /><Relationship Type="http://schemas.openxmlformats.org/officeDocument/2006/relationships/notesMaster" Target="/ppt/notesMasters/notesMaster1.xml" Id="R4c352f20f8da44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a20a0c3a584f39" /><Relationship Type="http://schemas.openxmlformats.org/officeDocument/2006/relationships/notesMaster" Target="/ppt/notesMasters/notesMaster1.xml" Id="R0fa52b484199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3dcc68b8549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3432da3f734475" /><Relationship Type="http://schemas.openxmlformats.org/officeDocument/2006/relationships/slideLayout" Target="/ppt/slideLayouts/slideLayout1.xml" Id="R1b233994f78c4d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233994f78c4d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62aac15834246" /><Relationship Type="http://schemas.openxmlformats.org/officeDocument/2006/relationships/image" Target="/ppt/media/image.png" Id="R9359c5eab4d64209" /><Relationship Type="http://schemas.openxmlformats.org/officeDocument/2006/relationships/notesSlide" Target="/ppt/notesSlides/notesSlide1.xml" Id="Rb3953f5d1af04b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8e368894e4ec1" /><Relationship Type="http://schemas.openxmlformats.org/officeDocument/2006/relationships/notesSlide" Target="/ppt/notesSlides/notesSlide2.xml" Id="R15a856826b114c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4386082124e5c" /><Relationship Type="http://schemas.openxmlformats.org/officeDocument/2006/relationships/image" Target="/ppt/media/image2.png" Id="R510f0259a6ab49e6" /><Relationship Type="http://schemas.openxmlformats.org/officeDocument/2006/relationships/notesSlide" Target="/ppt/notesSlides/notesSlide3.xml" Id="Rfa05242efaa44f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2f42866844cdf" /><Relationship Type="http://schemas.openxmlformats.org/officeDocument/2006/relationships/notesSlide" Target="/ppt/notesSlides/notesSlide4.xml" Id="R9270ead8d67147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a723f46a7447c" /><Relationship Type="http://schemas.openxmlformats.org/officeDocument/2006/relationships/notesSlide" Target="/ppt/notesSlides/notesSlide5.xml" Id="Rcbb8119f1ee142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cb4f5ab5e44dd" /><Relationship Type="http://schemas.openxmlformats.org/officeDocument/2006/relationships/notesSlide" Target="/ppt/notesSlides/notesSlide6.xml" Id="R90f51c90519042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88bfbd7c44e9d" /><Relationship Type="http://schemas.openxmlformats.org/officeDocument/2006/relationships/image" Target="/ppt/media/image3.png" Id="Ra2e9d9b5abc842fe" /><Relationship Type="http://schemas.openxmlformats.org/officeDocument/2006/relationships/image" Target="/ppt/media/image4.png" Id="Rae667fa89a294dc9" /><Relationship Type="http://schemas.openxmlformats.org/officeDocument/2006/relationships/image" Target="/ppt/media/image5.png" Id="R9e5c36064b23466c" /><Relationship Type="http://schemas.openxmlformats.org/officeDocument/2006/relationships/image" Target="/ppt/media/image6.png" Id="R2518ee02198f41d2" /><Relationship Type="http://schemas.openxmlformats.org/officeDocument/2006/relationships/image" Target="/ppt/media/image7.png" Id="R8012fa0653774188" /><Relationship Type="http://schemas.openxmlformats.org/officeDocument/2006/relationships/notesSlide" Target="/ppt/notesSlides/notesSlide7.xml" Id="Rfa9e63b121d946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9ff908482457c" /><Relationship Type="http://schemas.openxmlformats.org/officeDocument/2006/relationships/notesSlide" Target="/ppt/notesSlides/notesSlide8.xml" Id="Re2b69d26e09741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d47f0206b4d18" /><Relationship Type="http://schemas.openxmlformats.org/officeDocument/2006/relationships/notesSlide" Target="/ppt/notesSlides/notesSlide9.xml" Id="R51181550b7b74c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b432e5f9b4c97" /><Relationship Type="http://schemas.openxmlformats.org/officeDocument/2006/relationships/notesSlide" Target="/ppt/notesSlides/notesSlide10.xml" Id="Rdd98ea8a61db4a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21f538b31439c" /><Relationship Type="http://schemas.openxmlformats.org/officeDocument/2006/relationships/notesSlide" Target="/ppt/notesSlides/notesSlide11.xml" Id="R455f7778038649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337d30ffd4411" /><Relationship Type="http://schemas.openxmlformats.org/officeDocument/2006/relationships/notesSlide" Target="/ppt/notesSlides/notesSlide12.xml" Id="Re682ea40464845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4c8df9ea44832" /><Relationship Type="http://schemas.openxmlformats.org/officeDocument/2006/relationships/notesSlide" Target="/ppt/notesSlides/notesSlide13.xml" Id="R5fe2c004224f49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c31485963420b" /><Relationship Type="http://schemas.openxmlformats.org/officeDocument/2006/relationships/notesSlide" Target="/ppt/notesSlides/notesSlide14.xml" Id="Rec40c971931c4f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610f39abc4498" /><Relationship Type="http://schemas.openxmlformats.org/officeDocument/2006/relationships/image" Target="/ppt/media/image8.png" Id="R3a1e3eb23ae24f9d" /><Relationship Type="http://schemas.openxmlformats.org/officeDocument/2006/relationships/notesSlide" Target="/ppt/notesSlides/notesSlide15.xml" Id="R8bcadd089fe04e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A6C61-6BBE-4403-8FD3-73BF3FEC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BFCD0-CD5F-44D7-A303-29115580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20EBE-CBA5-4D7A-AEFC-472559C7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7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9c5eab4d64209"/>
          <a:stretch xmlns:a="http://schemas.openxmlformats.org/drawingml/2006/main"/>
        </p:blipFill>
        <p:spPr>
          <a:xfrm xmlns:a="http://schemas.openxmlformats.org/drawingml/2006/main">
            <a:off x="762000" y="74295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48059-92D3-4B1C-96F1-1968E2A4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C84F"/>
                </a:solidFill>
              </a:defRPr>
            </a:pPr>
            <a:r>
              <a:rPr sz="1125" b="1">
                <a:solidFill>
                  <a:srgbClr val="F4C84F"/>
                </a:solidFill>
              </a:rPr>
              <a:t>PT TAPGO LION INDONESIA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0F94C-E87A-4D53-B590-E648875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TapGo Merchant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Verification 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4A899-FFCD-4353-BA7E-63C79F68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9E5F4"/>
                </a:solidFill>
              </a:defRPr>
            </a:pPr>
            <a:r>
              <a:rPr sz="1575">
                <a:solidFill>
                  <a:srgbClr val="D9E5F4"/>
                </a:solidFill>
              </a:rPr>
              <a:t>Business Flow &amp; Payment Gateway Clarification</a:t>
            </a:r>
          </a:p>
          <a:p xmlns:a="http://schemas.openxmlformats.org/drawingml/2006/main">
            <a:pPr>
              <a:defRPr sz="1575">
                <a:solidFill>
                  <a:srgbClr val="D9E5F4"/>
                </a:solidFill>
              </a:defRPr>
            </a:pPr>
            <a:r>
              <a:rPr sz="1575">
                <a:solidFill>
                  <a:srgbClr val="D9E5F4"/>
                </a:solidFill>
              </a:rPr>
              <a:t>Prepared for DOKU Merchant Verification</a:t>
            </a:r>
          </a:p>
          <a:p xmlns:a="http://schemas.openxmlformats.org/drawingml/2006/main">
            <a:pPr>
              <a:defRPr sz="1575">
                <a:solidFill>
                  <a:srgbClr val="D9E5F4"/>
                </a:solidFill>
              </a:defRPr>
            </a:pPr>
            <a:r>
              <a:rPr sz="1575">
                <a:solidFill>
                  <a:srgbClr val="D9E5F4"/>
                </a:solidFill>
              </a:rPr>
              <a:t>Ticket #1101182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73744-5979-4420-8F9C-EB84469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429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00ED4-061B-434C-9FD8-07C6CB29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97D58-20B9-456C-9895-E5EA9824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Merchant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76B2A-3A3A-4745-9DB9-78A160F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0099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Brand: TapGo</a:t>
            </a:r>
          </a:p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Director: Ahmad Zulhi</a:t>
            </a:r>
          </a:p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Gateway: DOKU Checkout</a:t>
            </a:r>
          </a:p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Website: tapgolion.id</a:t>
            </a:r>
          </a:p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Date: July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3ADCD-1FCC-427A-9DAB-46DEFDE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5016B-A9E7-4B3D-BB1D-C5AF5B63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2E375-8A07-4845-9226-732CBB35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0873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8072DF-CC54-450B-9DCC-1593E1EC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2ED81-6C47-4453-BE80-D187EA1A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F9E9-9B85-468C-88B3-8801667F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FF8EA-2F91-4EBC-89C2-569991A4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Ringkasan Klarifikasi Merchant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923F5-764E-4904-B4A8-F1C036BD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F560A-EB2B-4FD0-B71D-5EE64491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959CF-58DF-472C-8063-9999D1A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A9815-B274-4886-989A-B24AA8CF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237"/>
                </a:solidFill>
              </a:defRPr>
            </a:pPr>
            <a:r>
              <a:rPr sz="1650">
                <a:solidFill>
                  <a:srgbClr val="142237"/>
                </a:solidFill>
              </a:rPr>
              <a:t>Dokumen ini disusun sebagai jawaban resmi PT TAPGO LION INDONESIA atas permintaan klarifikasi DOKU mengenai flow bisnis TapGo, layanan pembayaran yang digunakan, target pengguna, serta status aplikasi.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3F2A4-A7CE-4473-B151-5E28BAA0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38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927AE-4B42-4957-A1FF-BE1B3989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8DF16-5075-4E80-999D-3BBF2B84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Platform Digital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25B1E-0648-4121-AF8C-70A61823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819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TapGo adalah platform membership digital berbasis aplikasi mobile dengan ekosistem wallet, referral, PPOB, dan layanan digital.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EB8A5-8D85-4A19-8A01-363D5B6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02D49-A548-49A2-B025-2AA8D33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0F428-2C06-4E1C-B887-415100C0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908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Objek Transaksi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498E0-9919-4430-BE06-4CDD0F7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33700"/>
            <a:ext cx="2819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Transaksi yang diproses melalui DOKU adalah pembelian paket membership digital TapGo.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F55AD-5336-4042-9E10-773E9798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238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81080-531C-47DD-AAF2-9664E07D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62A6F-9A62-41B4-B912-4F400A04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Kontrol Pembayaran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6576D-EA8F-4C58-9FA7-64FFD37C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819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Membership aktif setelah payment notification/webhook DOKU diverifikasi oleh backend TapGo.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25D37-39CE-4EB7-9C4D-8C08ECF7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2494F-3191-4439-A720-D2B6ACDD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237"/>
                </a:solidFill>
              </a:defRPr>
            </a:pPr>
            <a:r>
              <a:rPr sz="1350">
                <a:solidFill>
                  <a:srgbClr val="142237"/>
                </a:solidFill>
              </a:rPr>
              <a:t>Tidak menyimpan data kartu customer.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41559-96AC-433B-B2FF-BB68A570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A28A44-C46B-4CAB-AC0B-5EA0F243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237"/>
                </a:solidFill>
              </a:defRPr>
            </a:pPr>
            <a:r>
              <a:rPr sz="1350">
                <a:solidFill>
                  <a:srgbClr val="142237"/>
                </a:solidFill>
              </a:rPr>
              <a:t>Tidak memproses pinjaman atau kredit.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E3F1F-CA47-4582-8BAA-4A74EEF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72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EF951-5CBC-4C0A-911E-06DF33B2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95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237"/>
                </a:solidFill>
              </a:defRPr>
            </a:pPr>
            <a:r>
              <a:rPr sz="1350">
                <a:solidFill>
                  <a:srgbClr val="142237"/>
                </a:solidFill>
              </a:rPr>
              <a:t>Payment diproses melalui hosted payment page DOKU.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84016-5D66-4455-9045-78149CB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34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1BAC6-D00A-41DE-A630-7F23819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57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237"/>
                </a:solidFill>
              </a:defRPr>
            </a:pPr>
            <a:r>
              <a:rPr sz="1350">
                <a:solidFill>
                  <a:srgbClr val="142237"/>
                </a:solidFill>
              </a:rPr>
              <a:t>Invoice dan amount divalidasi server-side.</a:t>
            </a:r>
          </a:p>
        </p:txBody>
      </p:sp>
    </p:spTree>
    <p:extLst>
      <p:ext uri="{BB962C8B-B14F-4D97-AF65-F5344CB8AC3E}">
        <p14:creationId xmlns:p14="http://schemas.microsoft.com/office/powerpoint/2010/main" val="12010581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72FA4-72BE-4918-8D2B-E8246495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C3561-554C-4BC8-98C6-770F00D7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976D4-86DB-4EB6-9007-5F168E4D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MERCHANT 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1E8C4-8815-402F-A214-3D22F132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Identitas Merchant TapGo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5EA6D-9F70-4D2B-A370-220E4CEF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5DF95-75CB-4C13-8282-DB6B8E36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78CD5-3276-4B74-AC38-0A57D7C1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03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f0259a6ab49e6"/>
          <a:stretch xmlns:a="http://schemas.openxmlformats.org/drawingml/2006/main"/>
        </p:blipFill>
        <p:spPr>
          <a:xfrm xmlns:a="http://schemas.openxmlformats.org/drawingml/2006/main">
            <a:off x="838200" y="12573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B0655-BE78-45AA-A197-0F575FAE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1B34"/>
                </a:solidFill>
              </a:defRPr>
            </a:pPr>
            <a:r>
              <a:rPr sz="2400" b="1">
                <a:solidFill>
                  <a:srgbClr val="061B34"/>
                </a:solidFill>
              </a:rPr>
              <a:t>TapGo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1FEEF-1387-49FE-919F-48FD3586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19200"/>
            <a:ext cx="7524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26D46-09A5-4C40-8D6B-B3CC3437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620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1B34"/>
                </a:solidFill>
              </a:defRPr>
            </a:pPr>
            <a:r>
              <a:rPr sz="1200" b="1">
                <a:solidFill>
                  <a:srgbClr val="061B34"/>
                </a:solidFill>
              </a:rPr>
              <a:t>Company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62629-C2EE-4C4E-A1ED-0FC72D7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237"/>
                </a:solidFill>
              </a:defRPr>
            </a:pPr>
            <a:r>
              <a:rPr sz="1275">
                <a:solidFill>
                  <a:srgbClr val="142237"/>
                </a:solidFill>
              </a:rPr>
              <a:t>PT TAPGO LION INDONESIA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EAA72-B0F8-4013-B31E-3342C61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0225"/>
            <a:ext cx="7524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726D2-6630-40D8-8376-19D0AB81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1B34"/>
                </a:solidFill>
              </a:defRPr>
            </a:pPr>
            <a:r>
              <a:rPr sz="1200" b="1">
                <a:solidFill>
                  <a:srgbClr val="061B34"/>
                </a:solidFill>
              </a:rPr>
              <a:t>Brand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B02C2-E607-4EDE-805C-8A911EA1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237"/>
                </a:solidFill>
              </a:defRPr>
            </a:pPr>
            <a:r>
              <a:rPr sz="1275">
                <a:solidFill>
                  <a:srgbClr val="142237"/>
                </a:solidFill>
              </a:rPr>
              <a:t>TapGo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0424B-F5FC-4CDB-A2DB-A07502F4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7524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ACAF2-D8B6-4675-8DF6-44175F0E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241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1B34"/>
                </a:solidFill>
              </a:defRPr>
            </a:pPr>
            <a:r>
              <a:rPr sz="1200" b="1">
                <a:solidFill>
                  <a:srgbClr val="061B34"/>
                </a:solidFill>
              </a:rPr>
              <a:t>Director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1FCCC-54D3-4825-8183-59CF5143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237"/>
                </a:solidFill>
              </a:defRPr>
            </a:pPr>
            <a:r>
              <a:rPr sz="1275">
                <a:solidFill>
                  <a:srgbClr val="142237"/>
                </a:solidFill>
              </a:rPr>
              <a:t>Ahmad Zulhi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34FE8-87A8-4886-B5FB-EE56206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62275"/>
            <a:ext cx="7524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B5B77-3EC8-49F7-B778-A77BBF61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1B34"/>
                </a:solidFill>
              </a:defRPr>
            </a:pPr>
            <a:r>
              <a:rPr sz="1200" b="1">
                <a:solidFill>
                  <a:srgbClr val="061B34"/>
                </a:solidFill>
              </a:rPr>
              <a:t>Website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D0E78-69C9-4139-8C61-1934F2B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237"/>
                </a:solidFill>
              </a:defRPr>
            </a:pPr>
            <a:r>
              <a:rPr sz="1275">
                <a:solidFill>
                  <a:srgbClr val="142237"/>
                </a:solidFill>
              </a:rPr>
              <a:t>https://tapgolion.id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B4E11-D4E2-4F11-8C13-3725C464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7524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68F4F-3F83-4E16-93BC-BBE1B86D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861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1B34"/>
                </a:solidFill>
              </a:defRPr>
            </a:pPr>
            <a:r>
              <a:rPr sz="1200" b="1">
                <a:solidFill>
                  <a:srgbClr val="061B34"/>
                </a:solidFill>
              </a:rPr>
              <a:t>Email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35D09-4CB1-4CD7-83B4-9D8616D7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86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237"/>
                </a:solidFill>
              </a:defRPr>
            </a:pPr>
            <a:r>
              <a:rPr sz="1275">
                <a:solidFill>
                  <a:srgbClr val="142237"/>
                </a:solidFill>
              </a:rPr>
              <a:t>support@tapgolion.id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D13C47-78A4-424E-805B-56984890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24325"/>
            <a:ext cx="7524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887D8-60E3-4EDA-B5C3-42F5DDB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1B34"/>
                </a:solidFill>
              </a:defRPr>
            </a:pPr>
            <a:r>
              <a:rPr sz="1200" b="1">
                <a:solidFill>
                  <a:srgbClr val="061B34"/>
                </a:solidFill>
              </a:rPr>
              <a:t>Payment Gateway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5CC947-6E8F-4E9C-9A0C-CC37502A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237"/>
                </a:solidFill>
              </a:defRPr>
            </a:pPr>
            <a:r>
              <a:rPr sz="1275">
                <a:solidFill>
                  <a:srgbClr val="142237"/>
                </a:solidFill>
              </a:rPr>
              <a:t>DOKU Checkout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241CFB-A0DB-48AB-AC94-7DCB33D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7524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DA58C-FC41-4FB8-AC1D-B07707CE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482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1B34"/>
                </a:solidFill>
              </a:defRPr>
            </a:pPr>
            <a:r>
              <a:rPr sz="1200" b="1">
                <a:solidFill>
                  <a:srgbClr val="061B34"/>
                </a:solidFill>
              </a:rPr>
              <a:t>Ticket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32D55-7FAA-4A32-A376-ADF8E4BD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482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237"/>
                </a:solidFill>
              </a:defRPr>
            </a:pPr>
            <a:r>
              <a:rPr sz="1275">
                <a:solidFill>
                  <a:srgbClr val="142237"/>
                </a:solidFill>
              </a:rPr>
              <a:t>#1101182</a:t>
            </a:r>
          </a:p>
        </p:txBody>
      </p:sp>
    </p:spTree>
    <p:extLst>
      <p:ext uri="{BB962C8B-B14F-4D97-AF65-F5344CB8AC3E}">
        <p14:creationId xmlns:p14="http://schemas.microsoft.com/office/powerpoint/2010/main" val="2864848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51B53-DC6E-417C-B26F-9B400AA7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947AC-76E8-4DE9-A23C-A7A48823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2E284-8DF6-400F-9997-1D677F58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BUSINESS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18129-B9FC-4D4C-A0D2-17E14E37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Gambaran Bisnis TapGo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A608F-6DCB-4604-8197-37ACF067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D858B-D7C7-4381-8D8B-4CF3C16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C8972-143B-4F8A-8BC5-55C8B46C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18663-272A-4197-92D2-93EB4AA8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237"/>
                </a:solidFill>
              </a:defRPr>
            </a:pPr>
            <a:r>
              <a:rPr sz="1575">
                <a:solidFill>
                  <a:srgbClr val="142237"/>
                </a:solidFill>
              </a:rPr>
              <a:t>TapGo menyediakan platform membership digital. Customer membeli paket membership untuk memperoleh akses dan benefit sesuai paket. Pembayaran dilakukan melalui payment gateway resmi, kemudian backend TapGo mengaktifkan membership setelah pembayaran tervalidasi.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533EF-6568-4D03-97BE-B3E10F56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B0F8F-EC5E-4F48-9490-0BE353FA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4CB77-8DDB-4390-9EDD-4A7C1613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2857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8AFCE-D8D0-4793-9C7A-54F2DB1D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B0E79-7111-47AD-AAD9-D460D675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908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Membership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CFEA6-AC43-4D65-ACB6-F5610B05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337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Pintu masuk customer ke ekosistem TapGo.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CD409-D9BF-4E87-89E5-57A9925E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86D93-7C09-427F-B218-2A8C25AD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451F0-FDA4-48F5-B026-561CB80B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857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9A162-A4AC-4269-AB7F-B9CCDE45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1827F-CCCB-4A6F-AFE0-7015B6DF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908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Wallet &amp; PPOB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B29B3-3F9D-4778-BEF3-EF7FC9DD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337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Aktivitas digital dan transaksi harian dalam aplikasi.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5DBEE-1A9B-433F-ACF0-4A6CFD6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CEDE6-ADC4-40CB-A946-7C98FDAD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0E19C-CFB0-47F1-BA2E-DCAE056C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45316-DB9A-4F65-A8FD-42BE09B5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4CBD9-2E98-43D3-B928-2D47B60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90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Referral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BBA50-E4FB-4248-A245-41F9D3F1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337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Pertumbuhan komunitas dan mitra sesuai ketentuan.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739F4-2A6C-4550-A5C5-D7718E1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1B34"/>
                </a:solidFill>
              </a:defRPr>
            </a:pPr>
            <a:r>
              <a:rPr sz="1650" b="1">
                <a:solidFill>
                  <a:srgbClr val="061B34"/>
                </a:solidFill>
              </a:rPr>
              <a:t>Prinsip pembayaran: order dibuat di aplikasi, invoice tersimpan di backend, customer membayar melalui DOKU, lalu webhook DOKU menjadi dasar aktivasi membership.</a:t>
            </a:r>
          </a:p>
        </p:txBody>
      </p:sp>
    </p:spTree>
    <p:extLst>
      <p:ext uri="{BB962C8B-B14F-4D97-AF65-F5344CB8AC3E}">
        <p14:creationId xmlns:p14="http://schemas.microsoft.com/office/powerpoint/2010/main" val="15196429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02924-D369-4BB8-84F4-2985307B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F5669-0BC3-489E-B02D-A2455ECB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F1B0D-A3D4-4D23-AEC9-CED1A334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PRODUCT SOLD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B637B-C4A1-46C2-9E77-DEBF398A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Objek Transaksi: Paket Membership Digital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5BDC1-FBCB-42E6-81E9-DA42791A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95B54-E176-4A1E-B6FA-23A7CA4A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3A3DB-6D65-44B6-ACD2-AA0DC0ED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D4236-8FC2-4493-8EAF-31E88DC2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57450" cy="29527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65B60-B061-42A5-9819-514A62EC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57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62D41-24FF-45D7-969E-AC1DD9D0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Basic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0C35-0C8D-485D-B914-2829F7BF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1B34"/>
                </a:solidFill>
              </a:defRPr>
            </a:pPr>
            <a:r>
              <a:rPr sz="1875" b="1">
                <a:solidFill>
                  <a:srgbClr val="061B34"/>
                </a:solidFill>
              </a:rPr>
              <a:t>Gratis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36E19-B032-4790-B1D6-CEC3B2C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C"/>
                </a:solidFill>
              </a:defRPr>
            </a:pPr>
            <a:r>
              <a:rPr sz="1275">
                <a:solidFill>
                  <a:srgbClr val="63758C"/>
                </a:solidFill>
              </a:rPr>
              <a:t>Akses aplikasi TapGo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D1E06-76C6-4CA2-A8FA-8CFD0C67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237"/>
                </a:solidFill>
              </a:defRPr>
            </a:pPr>
            <a:r>
              <a:rPr sz="1050">
                <a:solidFill>
                  <a:srgbClr val="142237"/>
                </a:solidFill>
              </a:rPr>
              <a:t>Dibeli customer sebagai paket membership digital TapGo.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B7618-29BD-4BF1-BB03-6530CC4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2457450" cy="29527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05907-3E1A-4AE5-8839-B204E85A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2457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BF3C1-D006-47C1-8D36-05BD8228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57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0ACEB-F911-4649-9C1B-EAED340F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1B34"/>
                </a:solidFill>
              </a:defRPr>
            </a:pPr>
            <a:r>
              <a:rPr sz="1875" b="1">
                <a:solidFill>
                  <a:srgbClr val="061B34"/>
                </a:solidFill>
              </a:rPr>
              <a:t>Rp500.000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7DDB7-ABA2-40AB-BE98-47E9082A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480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C"/>
                </a:solidFill>
              </a:defRPr>
            </a:pPr>
            <a:r>
              <a:rPr sz="1275">
                <a:solidFill>
                  <a:srgbClr val="63758C"/>
                </a:solidFill>
              </a:rPr>
              <a:t>Membership digital Silver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62E83-7BC0-4EAD-B296-07633EF2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90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237"/>
                </a:solidFill>
              </a:defRPr>
            </a:pPr>
            <a:r>
              <a:rPr sz="1050">
                <a:solidFill>
                  <a:srgbClr val="142237"/>
                </a:solidFill>
              </a:rPr>
              <a:t>Dibeli customer sebagai paket membership digital TapGo.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DB5F3-F627-48FB-82E4-C5ADF644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2457450" cy="29527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9D242-285D-4574-B54D-9F0058D5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2457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1F0B6-2B0A-4E1B-92E6-2662A1CF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C2D88-C909-44EF-B844-052CB924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1B34"/>
                </a:solidFill>
              </a:defRPr>
            </a:pPr>
            <a:r>
              <a:rPr sz="1875" b="1">
                <a:solidFill>
                  <a:srgbClr val="061B34"/>
                </a:solidFill>
              </a:rPr>
              <a:t>Rp3.000.000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5CFC1-40B1-4754-BA8C-E305BC00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C"/>
                </a:solidFill>
              </a:defRPr>
            </a:pPr>
            <a:r>
              <a:rPr sz="1275">
                <a:solidFill>
                  <a:srgbClr val="63758C"/>
                </a:solidFill>
              </a:rPr>
              <a:t>Membership digital Gold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E0EAC-5309-4922-A6E9-566B7E19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237"/>
                </a:solidFill>
              </a:defRPr>
            </a:pPr>
            <a:r>
              <a:rPr sz="1050">
                <a:solidFill>
                  <a:srgbClr val="142237"/>
                </a:solidFill>
              </a:rPr>
              <a:t>Dibeli customer sebagai paket membership digital TapGo.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5FFA6-5B7F-4D35-8EC1-7FB8D073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2457450" cy="29527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C75D0-4312-4A59-B7D9-A436C651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2457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E7596-6E5C-4D52-B16B-AF8C0415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57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Platinum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49F33-4D4F-4FCA-AA99-A977F254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1B34"/>
                </a:solidFill>
              </a:defRPr>
            </a:pPr>
            <a:r>
              <a:rPr sz="1875" b="1">
                <a:solidFill>
                  <a:srgbClr val="061B34"/>
                </a:solidFill>
              </a:rPr>
              <a:t>Rp5.500.000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96D61-FB51-431A-B3C8-5326E03F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480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C"/>
                </a:solidFill>
              </a:defRPr>
            </a:pPr>
            <a:r>
              <a:rPr sz="1275">
                <a:solidFill>
                  <a:srgbClr val="63758C"/>
                </a:solidFill>
              </a:rPr>
              <a:t>Membership digital Platinum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2653F6-CE60-4B0B-A321-8F7E18AB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90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237"/>
                </a:solidFill>
              </a:defRPr>
            </a:pPr>
            <a:r>
              <a:rPr sz="1050">
                <a:solidFill>
                  <a:srgbClr val="142237"/>
                </a:solidFill>
              </a:rPr>
              <a:t>Dibeli customer sebagai paket membership digital TapGo.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119022-2201-47DF-A1FB-53224E4D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1B34"/>
                </a:solidFill>
              </a:defRPr>
            </a:pPr>
            <a:r>
              <a:rPr sz="1650" b="1">
                <a:solidFill>
                  <a:srgbClr val="061B34"/>
                </a:solidFill>
              </a:rPr>
              <a:t>Objek transaksi melalui DOKU adalah paket membership digital TapGo, bukan pinjaman, kredit, atau produk ilegal.</a:t>
            </a:r>
          </a:p>
        </p:txBody>
      </p:sp>
    </p:spTree>
    <p:extLst>
      <p:ext uri="{BB962C8B-B14F-4D97-AF65-F5344CB8AC3E}">
        <p14:creationId xmlns:p14="http://schemas.microsoft.com/office/powerpoint/2010/main" val="18952065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111FE-79FB-4280-A44F-2B756A53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4F431-9FB6-438A-8427-E375D7D4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319CB-21C2-4C77-874B-48520FC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CUSTOMER BUSINESS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72EA7-A5B1-4E85-9371-886BA9EF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Alur Customer dari Registrasi sampai Membership Aktif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1E971-432A-4F08-B17D-07DE0A0A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C5327-514C-49FF-905E-27E2AF26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42E10-1C55-4034-98D5-4AB86B86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E8B68-2313-4C52-B010-CA52A0F3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C79CE-9BF1-404A-8C38-56E5959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26559-F647-412A-BBCE-FCB6CEB3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819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887F8-208E-4245-B7FE-B0F9F0E1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24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62463-F5B5-40B6-A38B-7B50C59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38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25007-7B29-462E-AE01-9AF25EC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19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97681-E6C5-4B77-9D8C-F0DBC3E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18F02-46FD-430B-9417-C32DD62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Choose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Membership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1F0B2-DAB0-4E54-96A6-A505D0DD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819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6FD24-E8E5-4F6A-9978-3AAE2809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24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F1369-CD10-4CF8-80CE-3553AABC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38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Checkout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E7A36-D204-47E0-BCBD-66B9865D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19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08EA2-A481-4711-A3DC-F553BCB9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3C7F2-6373-4251-B463-E39DF8FA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38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Invoice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Generated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41762-0F05-4D7B-9C00-5063F81F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19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DDE50-5F44-40D4-9137-F76BC2B1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4C84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6BEC0-A115-4859-A61D-97BB337F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38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Pay with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DOKU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4E5B0-1B8A-4914-94B1-52E62A94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162D7-9A8D-4758-9429-33E37CD3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Payment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Success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45711-3F4D-43F4-9512-8163D0FB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24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2C6F8A-1E5E-4F04-9F36-AB40C2D6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29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A138E7-379C-4C26-8D1A-53EE90D0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43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DOKU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Webhook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6DAE4-8BAF-448E-822B-11705DF1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724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61227-E17B-4B88-9984-ACE193D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8EA6A3-7AF0-44C4-AC1F-523DF07C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43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Backend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8C1C50-A53A-4C10-A64A-B4847DDD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724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73B9EE-4C65-442C-9EBE-E37A8945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616A79-ED38-47AE-87BB-263A0E68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43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Invoice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PAID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5CD3D8-CAA1-45D4-B536-B46A8F6B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724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E8A6A1-DD82-4637-A138-2A6449E1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FD1548-16D6-48D5-B89C-75FFDB51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Membership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Active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D0B435-F1AF-41AF-B46D-43A15195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242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02E559-B89B-4003-BC3C-FB8BC2D6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381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C5EB2-C9B3-4917-B8B2-B34A5883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433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Benefit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Active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3FCFCB-0CD5-4B54-BC42-CCE1F5EA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14550"/>
            <a:ext cx="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236A23-AF98-4266-AD2A-8EF36FBA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1B34"/>
                </a:solidFill>
              </a:defRPr>
            </a:pPr>
            <a:r>
              <a:rPr sz="1650" b="1">
                <a:solidFill>
                  <a:srgbClr val="061B34"/>
                </a:solidFill>
              </a:rPr>
              <a:t>Payment notification dari DOKU menjadi trigger validasi backend. Membership hanya aktif setelah invoice dinyatakan PAID secara valid.</a:t>
            </a:r>
          </a:p>
        </p:txBody>
      </p:sp>
    </p:spTree>
    <p:extLst>
      <p:ext uri="{BB962C8B-B14F-4D97-AF65-F5344CB8AC3E}">
        <p14:creationId xmlns:p14="http://schemas.microsoft.com/office/powerpoint/2010/main" val="10577270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C9D02-F66E-45A8-866C-E5A7BC3C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071C2-F1E9-4289-A023-EE569800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A6927-2C1D-424D-8F04-272FCE24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CUSTOMER JOURNEY SCREENSHOTS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3CF7-1781-492F-9ADF-86C39ED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Contoh Tampilan Aplikasi TapGo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40220-DAA1-4524-AB0C-AFA79365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4A873-F959-49F8-8718-8CAEC75D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C54B8-D844-4C21-9763-62152400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6B93C-61CF-4F78-A3B3-1D85A5D3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695450" cy="400050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061B34"/>
          </a:solidFill>
          <a:ln xmlns:a="http://schemas.openxmlformats.org/drawingml/2006/main" w="11430">
            <a:solidFill>
              <a:srgbClr val="294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433F5-9013-4F77-8D02-E8295E59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352550" cy="33337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C172A"/>
          </a:solidFill>
          <a:ln xmlns:a="http://schemas.openxmlformats.org/drawingml/2006/main" w="9525">
            <a:solidFill>
              <a:srgbClr val="17345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9d9b5abc842fe"/>
          <a:srcRect xmlns:a="http://schemas.openxmlformats.org/drawingml/2006/main" l="15403" t="0" r="154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1428750"/>
            <a:ext cx="1238250" cy="31813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DFAB9-2BA5-42D0-B8AC-5E96727B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0C128-A54D-437F-9122-44A4123B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43000"/>
            <a:ext cx="1695450" cy="400050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061B34"/>
          </a:solidFill>
          <a:ln xmlns:a="http://schemas.openxmlformats.org/drawingml/2006/main" w="11430">
            <a:solidFill>
              <a:srgbClr val="294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55805-B967-4BCD-A19A-6ACDEB70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52550"/>
            <a:ext cx="1352550" cy="33337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C172A"/>
          </a:solidFill>
          <a:ln xmlns:a="http://schemas.openxmlformats.org/drawingml/2006/main" w="9525">
            <a:solidFill>
              <a:srgbClr val="17345C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67fa89a294dc9"/>
          <a:srcRect xmlns:a="http://schemas.openxmlformats.org/drawingml/2006/main" l="15403" t="0" r="154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9900" y="1428750"/>
            <a:ext cx="1238250" cy="31813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35E6F-8C4E-40C8-8B28-776C3B8A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815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Membership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E1935-7E56-44DC-BAF7-77C935E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43000"/>
            <a:ext cx="1695450" cy="400050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061B34"/>
          </a:solidFill>
          <a:ln xmlns:a="http://schemas.openxmlformats.org/drawingml/2006/main" w="11430">
            <a:solidFill>
              <a:srgbClr val="294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10F32-97BF-43EF-B4BF-ACAA2548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352550"/>
            <a:ext cx="1352550" cy="33337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C172A"/>
          </a:solidFill>
          <a:ln xmlns:a="http://schemas.openxmlformats.org/drawingml/2006/main" w="9525">
            <a:solidFill>
              <a:srgbClr val="17345C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c36064b23466c"/>
          <a:srcRect xmlns:a="http://schemas.openxmlformats.org/drawingml/2006/main" l="15403" t="0" r="154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1428750"/>
            <a:ext cx="1238250" cy="31813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84106-4EBB-4B73-860F-60A0874E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Checkout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6DCE4-B16C-4746-8981-5D3C3720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43000"/>
            <a:ext cx="1695450" cy="400050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061B34"/>
          </a:solidFill>
          <a:ln xmlns:a="http://schemas.openxmlformats.org/drawingml/2006/main" w="11430">
            <a:solidFill>
              <a:srgbClr val="294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0341F-26B6-4CEC-92FE-4AB1FE95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352550" cy="33337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C172A"/>
          </a:solidFill>
          <a:ln xmlns:a="http://schemas.openxmlformats.org/drawingml/2006/main" w="9525">
            <a:solidFill>
              <a:srgbClr val="17345C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8ee02198f41d2"/>
          <a:srcRect xmlns:a="http://schemas.openxmlformats.org/drawingml/2006/main" l="15403" t="0" r="154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428750"/>
            <a:ext cx="1238250" cy="31813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D1DC2-6886-4FC1-8897-B9005F67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Wallet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75AA4-7695-4045-A209-D08D8EA9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43000"/>
            <a:ext cx="1695450" cy="400050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061B34"/>
          </a:solidFill>
          <a:ln xmlns:a="http://schemas.openxmlformats.org/drawingml/2006/main" w="11430">
            <a:solidFill>
              <a:srgbClr val="294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ACB29-69F2-43C4-B810-3292D92F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52550"/>
            <a:ext cx="1352550" cy="33337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C172A"/>
          </a:solidFill>
          <a:ln xmlns:a="http://schemas.openxmlformats.org/drawingml/2006/main" w="9525">
            <a:solidFill>
              <a:srgbClr val="17345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2fa0653774188"/>
          <a:srcRect xmlns:a="http://schemas.openxmlformats.org/drawingml/2006/main" l="15403" t="0" r="154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3550" y="1428750"/>
            <a:ext cx="1238250" cy="31813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2FEAAE-ECDE-48C3-BB14-4C33A740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815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Referral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66C1E-FBFD-4DBE-8711-924968BC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237"/>
                </a:solidFill>
              </a:defRPr>
            </a:pPr>
            <a:r>
              <a:rPr sz="1425">
                <a:solidFill>
                  <a:srgbClr val="142237"/>
                </a:solidFill>
              </a:rPr>
              <a:t>Screenshot di atas menunjukkan flow utama yang relevan untuk review merchant: dashboard, paket membership, checkout, wallet, dan referral.</a:t>
            </a:r>
          </a:p>
        </p:txBody>
      </p:sp>
    </p:spTree>
    <p:extLst>
      <p:ext uri="{BB962C8B-B14F-4D97-AF65-F5344CB8AC3E}">
        <p14:creationId xmlns:p14="http://schemas.microsoft.com/office/powerpoint/2010/main" val="10723860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0A1FA5-F51E-4AB2-A85E-E6F7BBA7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C926-2098-4B0A-9C42-B77ACB0D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5AE5E-E223-44EE-BCED-D802855E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DOKU PAYMENT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38FAB-EA50-496C-8656-BCAE8793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Alur Pembayaran melalui DOKU Checkout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AFAD0-41AE-49F1-9326-1BD40E4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03C1F-C463-42F0-ADB6-1684686D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50CD5-8784-4522-8EFF-69DA6C7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4F725-54BF-44CA-B093-12E792B7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BB793-A0F3-4C07-8227-316E4DC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TapGo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93F89-285C-4B2D-AD64-B6714BE8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ABF2E-727F-40C9-921C-4E5FA43B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002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F929F-1B70-4527-81C0-970B6BA1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Backend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D7864-C6D3-498A-8D98-CCE52DC0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050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01FEF-AA04-4ACB-96A3-6719D254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C84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4E525-BDEF-471D-923B-455AC70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14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DOKU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10EF1-5BF7-432A-B36A-3C171076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50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91EA5-32F6-4014-A619-068FFF5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7EF7B-E129-4BC2-95A5-FAC5E931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Hosted Payment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0813B-8978-42E3-93FD-F51EDFA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050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C953A-A45F-46B5-A669-596F66F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002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6B51D-82FD-4EA1-96E4-59A7277A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VA / QRIS /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E-Wallet / Bank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88BA8-3ABF-44BF-A441-7C14B09B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38550"/>
            <a:ext cx="152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6890F-D2F2-462F-85C5-9CD83242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528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DOKU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Notification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EE06F-A0F4-44E5-B595-709BF75F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433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DB552-ADC9-4D7C-9C59-678ADA4C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38550"/>
            <a:ext cx="152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943A2-15AF-4F37-9616-0E4D888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528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Backend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DD94D-9F64-4461-8B1C-C3C108BE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433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67C2D3-888E-4CAD-A3F0-C38136B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152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24FDB-71A5-4555-AEA3-1F008C1B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Membership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Activation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FBEB0-522A-4D76-8BDA-9E128B00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5500E-D348-4D09-8E1E-F056F180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52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895FC-5006-479E-AF2F-0272A9CB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Invoice &amp;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Ledger Stored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AA5A51-694B-4AF6-8957-DB7B3D5F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-589597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4F5CBC-1F1F-4F7A-8DB6-1387D449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1B34"/>
                </a:solidFill>
              </a:defRPr>
            </a:pPr>
            <a:r>
              <a:rPr sz="1650" b="1">
                <a:solidFill>
                  <a:srgbClr val="061B34"/>
                </a:solidFill>
              </a:rPr>
              <a:t>DOKU Checkout digunakan sebagai hosted payment page. Backend TapGo tidak mengekspos credential dan tidak memproses data kartu customer.</a:t>
            </a:r>
          </a:p>
        </p:txBody>
      </p:sp>
    </p:spTree>
    <p:extLst>
      <p:ext uri="{BB962C8B-B14F-4D97-AF65-F5344CB8AC3E}">
        <p14:creationId xmlns:p14="http://schemas.microsoft.com/office/powerpoint/2010/main" val="4042990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C26C95-78B9-4CD1-9F1F-5689701C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4AC30-2BA2-4932-AE8A-198704E7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E043E-F11E-4A6C-B06C-55F0FD1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DOKU SERVICES REQUESTED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0DB92-B358-4377-A1E4-FCCE9C46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Layanan DOKU yang Digunakan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592A2-19A0-42DC-98C6-1220A2F9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1BC5A-46F0-4D89-BB56-93DC21A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52CE0-3675-4236-A9E0-FCD72EAF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37A30-8330-4EBB-A7EC-845F7B8B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857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413B9-E4C4-4BB2-9328-ABBB3A40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1F66C-1FAC-4C80-A0F4-2F96E4FE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Primary Gateway: DOKU Checkout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37EC4-AFDD-4E39-B95D-425FB9F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Customer diarahkan ke hosted payment page DOKU untuk menyelesaikan pembayaran membership.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4812B-AD97-4DBE-ACCF-6F249A7B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314450"/>
            <a:ext cx="4857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7AA03-87A0-4707-8FCA-3C69CE65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31445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42D00-EE4E-4053-970C-15ADDF3E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240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Payment Notification / Webhook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72DD4-93F2-4493-829D-FCB29F3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66900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Backend TapGo menerima notifikasi pembayaran, memverifikasi invoice dan amount, lalu mengaktifkan membership.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70988-4C5E-4A76-BA77-C76A9BB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CDBA0-3882-473A-939D-A3D8B1C8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7F3B7-808A-4E67-9483-E40466A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909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20247-C648-4298-BCDC-E7D6F748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1B34"/>
                </a:solidFill>
              </a:defRPr>
            </a:pPr>
            <a:r>
              <a:rPr sz="1425" b="1">
                <a:solidFill>
                  <a:srgbClr val="061B34"/>
                </a:solidFill>
              </a:rPr>
              <a:t>Virtual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E55D9-746D-4754-BD6E-19910BC0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099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3AC43-CE99-4040-A1EA-18FB4EC3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7AB82-4711-435A-8AF3-881DD9EC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137AA-4280-4198-90CE-3FC6019D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1B34"/>
                </a:solidFill>
              </a:defRPr>
            </a:pPr>
            <a:r>
              <a:rPr sz="1425" b="1">
                <a:solidFill>
                  <a:srgbClr val="061B34"/>
                </a:solidFill>
              </a:rPr>
              <a:t>QRIS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1FE7C-BF87-4BB8-8353-416A45B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099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8015C-A058-4910-A308-3B1B3751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95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6E30C-DD86-4263-ADC7-AF759FDA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909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C9E09-5C6B-4F32-843E-4AEE86A2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1B34"/>
                </a:solidFill>
              </a:defRPr>
            </a:pPr>
            <a:r>
              <a:rPr sz="1425" b="1">
                <a:solidFill>
                  <a:srgbClr val="061B34"/>
                </a:solidFill>
              </a:rPr>
              <a:t>E-Wallet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E4A31-7CFF-4D17-803B-9532EB83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262E5-A9A7-4D9C-A0FD-C087E5A6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826707-5EE3-4EF8-94B2-99D1F7AC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4C2D0-9E14-459B-9713-2BF6553C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339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1B34"/>
                </a:solidFill>
              </a:defRPr>
            </a:pPr>
            <a:r>
              <a:rPr sz="1425" b="1">
                <a:solidFill>
                  <a:srgbClr val="061B34"/>
                </a:solidFill>
              </a:rPr>
              <a:t>Bank Transfer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248EBE-60A8-447C-8D51-5C1D0E05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243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E0D116-72D5-4331-A05D-4EF690DD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00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74A48-2336-4884-AE99-0FB40128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053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1321EC-8545-455C-8BED-7AB5F7D8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1B34"/>
                </a:solidFill>
              </a:defRPr>
            </a:pPr>
            <a:r>
              <a:rPr sz="1425" b="1">
                <a:solidFill>
                  <a:srgbClr val="061B34"/>
                </a:solidFill>
              </a:rPr>
              <a:t>Payment Link / Checkout Page</a:t>
            </a:r>
          </a:p>
        </p:txBody>
      </p:sp>
    </p:spTree>
    <p:extLst>
      <p:ext uri="{BB962C8B-B14F-4D97-AF65-F5344CB8AC3E}">
        <p14:creationId xmlns:p14="http://schemas.microsoft.com/office/powerpoint/2010/main" val="14814325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FC6D7-63ED-4F40-9311-E2E6ED4B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506B7-7B9C-49C2-8C25-315677F0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F3923-18AF-420D-BE5B-04DB3986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TARGET USERS / CUSTOMERS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43946-29E0-40B5-885B-D053B54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Target Pengguna TapGo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F2042-2A56-4F65-987C-5C23F88A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3C789-004B-47F7-A9B1-3678D412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2B257-5999-48F8-B170-01E8EF02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E4225-37D1-4B79-A63F-61490F1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3238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C5485-5CAD-4758-8D17-EF2E4E0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6FA26-3ADB-48C0-81ED-95B09C5F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Masyarakat Umum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BC85C-F522-4AF0-8738-D5114B0B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Pengguna aplikasi mobile yang ingin membeli membership digital dan mengakses layanan TapGo.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A7036-1651-43D5-ADF8-6D0C476C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47800"/>
            <a:ext cx="3238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43A29-9E66-443E-A5CA-DE70DB89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478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A8907-0545-4959-B941-676551EE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573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Calon Member TapGo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9ED90-FD79-49A7-A7D4-89C34EE1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Pengguna yang ingin bergabung sebagai member dan memperoleh benefit sesuai paket membership.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B3AAB-185E-4A76-8212-56B1D590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47800"/>
            <a:ext cx="3238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A24F2-C23D-458B-B1F6-E1AE8E0E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478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BDBAD-7963-46D5-8DC1-B0249B0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Komunitas &amp; Mitra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EB3CE-4EE0-4E74-9F70-7DD7BE30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Komunitas, mitra, dan pengguna layanan digital TapGo seperti wallet, PPOB, dan referral.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FE7C9-9000-4D31-B295-611355F2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1B34"/>
                </a:solidFill>
              </a:defRPr>
            </a:pPr>
            <a:r>
              <a:rPr sz="1875" b="1">
                <a:solidFill>
                  <a:srgbClr val="061B34"/>
                </a:solidFill>
              </a:rPr>
              <a:t>Customer TapGo adalah pengguna aplikasi mobile yang melakukan transaksi pembelian paket membership digital melalui checkout aplikasi.</a:t>
            </a:r>
          </a:p>
        </p:txBody>
      </p:sp>
    </p:spTree>
    <p:extLst>
      <p:ext uri="{BB962C8B-B14F-4D97-AF65-F5344CB8AC3E}">
        <p14:creationId xmlns:p14="http://schemas.microsoft.com/office/powerpoint/2010/main" val="274625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639C1-277D-411C-8A79-08534CC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CC8F6-B2C0-4803-B59C-1E2D7D73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EBC2A-492F-406C-84A2-C67E2F7C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APPLICATION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392E4-0113-4B66-B0AB-35F4B361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Status Aplikasi TapGo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F94B2-40BA-4765-91D8-C012EC35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2227F-6D00-44BA-8A77-72DDC22D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33001-4FAE-4FFA-958F-80A73842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8256F-D915-4218-A624-329C7DD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33500"/>
            <a:ext cx="4191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6DAE5-CCB3-4118-B8AC-0FC2768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33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5828C-94AA-42B3-981D-3863209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0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Pre-Production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8493A-7745-4657-BAD6-EC17336D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8595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TapGo sedang dalam tahap release preparation dan production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5D4D9-0A57-4BBF-8567-51251BB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4191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5C4ED-2AF5-4ED1-A795-935CB414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834B1-94DD-427C-AE65-B0653FC0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Google Play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68BE0-9CA2-4714-838E-88D5D970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Production release sedang disiapkan setelah payment gateway verification selesai.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8E257-EF29-4A54-BF87-AFAD0C88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191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E2C0E-6AA7-4FD6-ABD4-17A08640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7B72A-5DA6-41E1-B55F-6211BDE9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Website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C149E-E5AB-40E5-AE73-2A04D2CE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Website resmi tersedia di https://tapgolion.id.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E2DA9-1A9F-43D3-9952-20162992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4191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DA20F-7AAE-4F2F-AA17-1ABB8B51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595CB-460C-406B-98F3-B67D053C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Demo / UAT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05D88-A81B-46E7-ABD4-BA0770E1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PT TAPGO LION INDONESIA siap memberikan akses demo/UAT sesuai kebutuhan review DOKU.</a:t>
            </a:r>
          </a:p>
        </p:txBody>
      </p:sp>
    </p:spTree>
    <p:extLst>
      <p:ext uri="{BB962C8B-B14F-4D97-AF65-F5344CB8AC3E}">
        <p14:creationId xmlns:p14="http://schemas.microsoft.com/office/powerpoint/2010/main" val="3521204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29D73B-A42A-4BEA-91F0-9F1B678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2990C-07B5-43D8-9912-1FB06B60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52DF2-1891-4DAC-A73C-C21DEDA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COMPLIANCE &amp; RISK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565AB-EFAA-4E27-BD01-D0F1261A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Pernyataan Kepatuhan dan Kontrol Risiko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EFC00-4689-42BB-8C35-312C9DD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F5C3C-0127-42EF-9133-E9D30CF2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43B92-F14F-495B-998E-0861BAC5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C7235-C183-47DD-9071-B3CC5470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A948D-28DE-4B3F-98C9-AE5FB61A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A57DB-4C88-4530-81DE-A829BCEE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02998-4BE8-45B6-A8E9-34A0DEFA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9542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1B34"/>
                </a:solidFill>
              </a:defRPr>
            </a:pPr>
            <a:r>
              <a:rPr sz="1275" b="1">
                <a:solidFill>
                  <a:srgbClr val="061B34"/>
                </a:solidFill>
              </a:rPr>
              <a:t>TapGo tidak menjual produk ilegal.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E5B98-7651-4E13-9B6B-3B86E80F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ADCF6-633B-4D53-9C55-C7AA92CF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CE6C2-B2D6-428B-AC8C-C89FE600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59D88-AD54-4A34-AD30-8CCC392A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1B34"/>
                </a:solidFill>
              </a:defRPr>
            </a:pPr>
            <a:r>
              <a:rPr sz="1275" b="1">
                <a:solidFill>
                  <a:srgbClr val="061B34"/>
                </a:solidFill>
              </a:rPr>
              <a:t>TapGo tidak memproses pinjaman atau kredit.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FC196-79B5-4186-8507-29A1B75E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84870-13DE-486A-8C6B-8DAF66D9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DB9DD-BC6B-4006-97E7-BFD11968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527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C19FD-EBD2-454D-AD52-612C65B9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1B34"/>
                </a:solidFill>
              </a:defRPr>
            </a:pPr>
            <a:r>
              <a:rPr sz="1275" b="1">
                <a:solidFill>
                  <a:srgbClr val="061B34"/>
                </a:solidFill>
              </a:rPr>
              <a:t>TapGo tidak menyimpan data kartu customer.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424E3-7DAE-40D7-8E7E-69CE212F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4F267-E146-49EC-8267-B984BFC9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957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63BB5-1C1A-4516-92BE-7599FB1B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D30C9-F8B5-4FBD-84F2-7565E763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1002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1B34"/>
                </a:solidFill>
              </a:defRPr>
            </a:pPr>
            <a:r>
              <a:rPr sz="1275" b="1">
                <a:solidFill>
                  <a:srgbClr val="061B34"/>
                </a:solidFill>
              </a:rPr>
              <a:t>Payment diproses melalui DOKU.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13F39-A516-4044-B6CC-2B270566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25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82481-0B10-45FB-AD01-5D7078DB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F57D3-A959-4A43-864A-DC0AEFBC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3CFEB-7E72-4903-8531-00745457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9542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1B34"/>
                </a:solidFill>
              </a:defRPr>
            </a:pPr>
            <a:r>
              <a:rPr sz="1275" b="1">
                <a:solidFill>
                  <a:srgbClr val="061B34"/>
                </a:solidFill>
              </a:rPr>
              <a:t>Membership aktif setelah webhook/payment notification tervalidasi.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CFB10-7CC5-488A-A0D9-44671ACA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B9A89-0C05-4588-92D2-76EA6033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294EA-266F-4D88-894C-E8A712B7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03060C-8B2B-4C2A-BE89-CAC1F9DA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1B34"/>
                </a:solidFill>
              </a:defRPr>
            </a:pPr>
            <a:r>
              <a:rPr sz="1275" b="1">
                <a:solidFill>
                  <a:srgbClr val="061B34"/>
                </a:solidFill>
              </a:rPr>
              <a:t>Backend memvalidasi invoice dan amount.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2CB7DB-194A-4DB3-92C3-8E890DD8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413C8-6DB5-463C-BC74-C2451E1E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E89877-11DF-464A-B315-DB17619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583BD6-9B7C-416A-AD73-4275D3E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7182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1B34"/>
                </a:solidFill>
              </a:defRPr>
            </a:pPr>
            <a:r>
              <a:rPr sz="1275" b="1">
                <a:solidFill>
                  <a:srgbClr val="061B34"/>
                </a:solidFill>
              </a:rPr>
              <a:t>Processing bersifat idempotent untuk mencegah double activation.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642ECD-990E-4E55-A012-6E216AD7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200B00-F221-4349-A298-F9317073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957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3CF671-2F23-4AC4-8619-9D0CDC5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58D4CB-DC99-409E-8953-90D4E08B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002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1B34"/>
                </a:solidFill>
              </a:defRPr>
            </a:pPr>
            <a:r>
              <a:rPr sz="1275" b="1">
                <a:solidFill>
                  <a:srgbClr val="061B34"/>
                </a:solidFill>
              </a:rPr>
              <a:t>Aktivitas pembayaran tercatat untuk monitoring admin.</a:t>
            </a:r>
          </a:p>
        </p:txBody>
      </p:sp>
    </p:spTree>
    <p:extLst>
      <p:ext uri="{BB962C8B-B14F-4D97-AF65-F5344CB8AC3E}">
        <p14:creationId xmlns:p14="http://schemas.microsoft.com/office/powerpoint/2010/main" val="19680465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98795-C8AD-41C2-B1E4-9FE54DE1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5B36D-6D6D-4857-B6C5-57F1C7A7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06C3F-C872-4270-8942-C0D132A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TECHNICAL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A69B3-4855-43FA-8A10-85B0424D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Arsitektur Integrasi Pembayaran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E0FB1-E24C-4CE1-ADD9-462CD19C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CD4F1-5D32-49FF-9222-BBD3844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75A9E-59FE-4BAC-A94E-AA5B62FE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0A8FC-90A2-4FC7-89A9-7775FFD3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295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637F2-D620-497C-9674-3379CCB6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Flutter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E93F2-F209-4547-8E70-CAC931B9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24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C9650-A21A-446B-913F-6DA4C7B0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1295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4262D-4281-4E6E-889C-5C70AC83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335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REST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4E9C4-65A1-44D6-8F59-62769B69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24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CF31A-B286-4E89-A67E-9E459048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19250"/>
            <a:ext cx="1295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417C0-FB58-4297-9394-3F424C6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335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CA87A-0DBB-425A-A5AE-BA2F69DA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24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8C5CA-97D1-4FFC-BF25-8FA7576D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19250"/>
            <a:ext cx="1295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1807F-DA9B-4B17-8CCE-284BF2F6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335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PostgreSQL /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Redis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117E3-3824-4857-AA97-87BECC57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401BE-89E8-493F-BBE2-949BF9C6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19250"/>
            <a:ext cx="1295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C84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C040E-F04D-4242-840C-349B2565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335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DOKU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Checkout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4F57B-73FB-4453-A0E7-6D2F515C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24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34210-DD0A-4B13-971D-4702C06E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1295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722BA-B080-4299-B0E0-1A1575F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Webhook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2E268-FB7D-425A-A393-A55D0CDF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6E2E5-8B56-49FC-9852-FBEB98C6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481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Membership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66E743-03A2-4373-B559-3001D7E8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5052D2-A04A-4DC9-9CE0-C1C6F0FE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338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B7504E-DCA6-489D-92B8-497AD789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481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Wallet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7390E6-03ED-452D-87C5-1F88EBF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386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3B019B-2C2F-4DCD-AC73-E49A890D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338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871254-6CA7-4AE6-9BC2-C1DEE0C3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481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Referral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466B40-2A87-44B0-BCF5-D41CA202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40A889-6246-47F6-AC7E-52DAF700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1430">
            <a:solidFill>
              <a:srgbClr val="C8D4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82C352-CED1-44C0-81F7-CD52D38A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Bonus /</a:t>
            </a:r>
          </a:p>
          <a:p xmlns:a="http://schemas.openxmlformats.org/drawingml/2006/main">
            <a:pPr>
              <a:defRPr sz="1125" b="1">
                <a:solidFill>
                  <a:srgbClr val="061B34"/>
                </a:solidFill>
              </a:defRPr>
            </a:pPr>
            <a:r>
              <a:rPr sz="1125" b="1">
                <a:solidFill>
                  <a:srgbClr val="061B34"/>
                </a:solidFill>
              </a:rPr>
              <a:t>Ledger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7DF8F9-53F6-472F-911A-54C751F0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28850"/>
            <a:ext cx="-6562725" cy="150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7A6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17D55D-54E5-4C47-AEA1-72AF556D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1B34"/>
                </a:solidFill>
              </a:defRPr>
            </a:pPr>
            <a:r>
              <a:rPr sz="1650" b="1">
                <a:solidFill>
                  <a:srgbClr val="061B34"/>
                </a:solidFill>
              </a:rPr>
              <a:t>Konfigurasi DOKU hanya dibaca server-side melalui backend environment. Frontend tidak menyimpan kunci rahasia pembayaran.</a:t>
            </a:r>
          </a:p>
        </p:txBody>
      </p:sp>
    </p:spTree>
    <p:extLst>
      <p:ext uri="{BB962C8B-B14F-4D97-AF65-F5344CB8AC3E}">
        <p14:creationId xmlns:p14="http://schemas.microsoft.com/office/powerpoint/2010/main" val="11509765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BAE1B-06AB-4DF9-9059-F47B00CB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A2C6B-BA89-4FAB-9200-2D995385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68D88-609B-4EC2-830A-DDFF38BC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C84F"/>
                </a:solidFill>
              </a:defRPr>
            </a:pPr>
            <a:r>
              <a:rPr sz="900" b="1">
                <a:solidFill>
                  <a:srgbClr val="F4C84F"/>
                </a:solidFill>
              </a:rPr>
              <a:t>LEGAL &amp; SUPPORTING DOCUMENTS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2B1BD-FFC4-4B1A-821E-C114B9CE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Lampiran Pendukung yang Direkomendasikan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CBBBE-E49F-44F2-9130-C75FCE5B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59081-B9CC-4F48-8B19-26D6382B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9F9CF-FBEF-4EB9-8708-1434A5A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7E553-E1D3-45D4-AC7D-2FE792C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144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9AE8B-CC29-46EF-9E37-41955AA1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62D"/>
                </a:solidFill>
              </a:defRPr>
            </a:pPr>
            <a:r>
              <a:rPr sz="1350" b="1">
                <a:solidFill>
                  <a:srgbClr val="D7A62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D7A67-6F70-4D0B-A66E-E59FDCE1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66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B34"/>
                </a:solidFill>
              </a:defRPr>
            </a:pPr>
            <a:r>
              <a:rPr sz="1350" b="1">
                <a:solidFill>
                  <a:srgbClr val="061B34"/>
                </a:solidFill>
              </a:rPr>
              <a:t>NIB beserta lampiran KBLI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36595-6D77-45BE-8C7A-F718B323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8D184-EAFF-4D9F-8506-0DE51EF2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526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62D"/>
                </a:solidFill>
              </a:defRPr>
            </a:pPr>
            <a:r>
              <a:rPr sz="1350" b="1">
                <a:solidFill>
                  <a:srgbClr val="D7A62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B238F-00DE-47FA-A15B-55BE45C4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431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B34"/>
                </a:solidFill>
              </a:defRPr>
            </a:pPr>
            <a:r>
              <a:rPr sz="1350" b="1">
                <a:solidFill>
                  <a:srgbClr val="061B34"/>
                </a:solidFill>
              </a:rPr>
              <a:t>NPWP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20F90-FF2B-49F1-A147-D5B08014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1A194-548D-4F41-B4B2-A60A0476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28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62D"/>
                </a:solidFill>
              </a:defRPr>
            </a:pPr>
            <a:r>
              <a:rPr sz="1350" b="1">
                <a:solidFill>
                  <a:srgbClr val="D7A62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96000-79D5-45BE-A9B6-7E81B8FE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194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B34"/>
                </a:solidFill>
              </a:defRPr>
            </a:pPr>
            <a:r>
              <a:rPr sz="1350" b="1">
                <a:solidFill>
                  <a:srgbClr val="061B34"/>
                </a:solidFill>
              </a:rPr>
              <a:t>SK Kemenkumham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8FD80-8892-4928-B12A-D5C2EA5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E7068-B640-4DE0-8033-0A07300F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62D"/>
                </a:solidFill>
              </a:defRPr>
            </a:pPr>
            <a:r>
              <a:rPr sz="1350" b="1">
                <a:solidFill>
                  <a:srgbClr val="D7A62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6F66F-4A74-4096-A572-7074778B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95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B34"/>
                </a:solidFill>
              </a:defRPr>
            </a:pPr>
            <a:r>
              <a:rPr sz="1350" b="1">
                <a:solidFill>
                  <a:srgbClr val="061B34"/>
                </a:solidFill>
              </a:rPr>
              <a:t>Akta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1FD2C-B461-4048-9DC0-C87E4D62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144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4D7E3-A0D9-4464-9D9D-460F39C4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763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62D"/>
                </a:solidFill>
              </a:defRPr>
            </a:pPr>
            <a:r>
              <a:rPr sz="1350" b="1">
                <a:solidFill>
                  <a:srgbClr val="D7A62D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9642F-9F8F-4A3E-818B-6A547AF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66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B34"/>
                </a:solidFill>
              </a:defRPr>
            </a:pPr>
            <a:r>
              <a:rPr sz="1350" b="1">
                <a:solidFill>
                  <a:srgbClr val="061B34"/>
                </a:solidFill>
              </a:rPr>
              <a:t>Company profile / merchant onboarding document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ABDFC-7E30-4A57-ABEB-E8D9D5F2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7C06A-37B2-423E-98A6-C6D0FC75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526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62D"/>
                </a:solidFill>
              </a:defRPr>
            </a:pPr>
            <a:r>
              <a:rPr sz="1350" b="1">
                <a:solidFill>
                  <a:srgbClr val="D7A62D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C6466-449B-4D2B-9090-C984A571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B34"/>
                </a:solidFill>
              </a:defRPr>
            </a:pPr>
            <a:r>
              <a:rPr sz="1350" b="1">
                <a:solidFill>
                  <a:srgbClr val="061B34"/>
                </a:solidFill>
              </a:rPr>
              <a:t>Screenshot flow aplikasi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F46466-6FB4-4400-82D9-4265BCED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0C92D-A83C-4342-89FF-AB73D7D6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28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62D"/>
                </a:solidFill>
              </a:defRPr>
            </a:pPr>
            <a:r>
              <a:rPr sz="1350" b="1">
                <a:solidFill>
                  <a:srgbClr val="D7A62D"/>
                </a:solidFill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0F8CE-7619-4B0D-84EC-A97FE64A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194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B34"/>
                </a:solidFill>
              </a:defRPr>
            </a:pPr>
            <a:r>
              <a:rPr sz="1350" b="1">
                <a:solidFill>
                  <a:srgbClr val="061B34"/>
                </a:solidFill>
              </a:rPr>
              <a:t>Screenshot checkout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73B1D-F51E-44BC-9CC4-AE2EE45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A0E9DD-F8CF-454E-9349-FE37792D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0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A62D"/>
                </a:solidFill>
              </a:defRPr>
            </a:pPr>
            <a:r>
              <a:rPr sz="1350" b="1">
                <a:solidFill>
                  <a:srgbClr val="D7A62D"/>
                </a:solidFill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AA578-463B-407D-8503-EC643A8E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B34"/>
                </a:solidFill>
              </a:defRPr>
            </a:pPr>
            <a:r>
              <a:rPr sz="1350" b="1">
                <a:solidFill>
                  <a:srgbClr val="061B34"/>
                </a:solidFill>
              </a:rPr>
              <a:t>Screenshot payment page DOKU jika tersedia</a:t>
            </a:r>
          </a:p>
        </p:txBody>
      </p:sp>
    </p:spTree>
    <p:extLst>
      <p:ext uri="{BB962C8B-B14F-4D97-AF65-F5344CB8AC3E}">
        <p14:creationId xmlns:p14="http://schemas.microsoft.com/office/powerpoint/2010/main" val="15659593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F25F2-E525-453E-B9DA-6134DF6E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12623-DA32-4387-A94E-BE91D19D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A6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e3eb23ae24f9d"/>
          <a:stretch xmlns:a="http://schemas.openxmlformats.org/drawingml/2006/main"/>
        </p:blipFill>
        <p:spPr>
          <a:xfrm xmlns:a="http://schemas.openxmlformats.org/drawingml/2006/main">
            <a:off x="838200" y="876300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49037-9D2A-49BF-9875-9B3AE5B1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C8D80-58DE-4DF7-A128-A7DDC563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E5F4"/>
                </a:solidFill>
              </a:defRPr>
            </a:pPr>
            <a:r>
              <a:rPr sz="1800">
                <a:solidFill>
                  <a:srgbClr val="D9E5F4"/>
                </a:solidFill>
              </a:rPr>
              <a:t>PT TAPGO LION INDONESIA</a:t>
            </a:r>
          </a:p>
          <a:p xmlns:a="http://schemas.openxmlformats.org/drawingml/2006/main">
            <a:pPr>
              <a:defRPr sz="1800">
                <a:solidFill>
                  <a:srgbClr val="D9E5F4"/>
                </a:solidFill>
              </a:defRPr>
            </a:pPr>
            <a:r>
              <a:rPr sz="1800">
                <a:solidFill>
                  <a:srgbClr val="D9E5F4"/>
                </a:solidFill>
              </a:rPr>
              <a:t>Ahmad Zulhi</a:t>
            </a:r>
          </a:p>
          <a:p xmlns:a="http://schemas.openxmlformats.org/drawingml/2006/main">
            <a:pPr>
              <a:defRPr sz="1800">
                <a:solidFill>
                  <a:srgbClr val="D9E5F4"/>
                </a:solidFill>
              </a:defRPr>
            </a:pPr>
            <a:r>
              <a:rPr sz="1800">
                <a:solidFill>
                  <a:srgbClr val="D9E5F4"/>
                </a:solidFill>
              </a:rPr>
              <a:t>Direktur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D13A1-8C83-442C-8B7F-AAA129D2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429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2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9C77F-34F6-497D-81DB-1DB3AA1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EB7AB-57F9-4C5C-A856-F653F942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859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1B34"/>
                </a:solidFill>
              </a:defRPr>
            </a:pPr>
            <a:r>
              <a:rPr sz="1500" b="1">
                <a:solidFill>
                  <a:srgbClr val="061B34"/>
                </a:solidFill>
              </a:rPr>
              <a:t>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1F415-6B48-4EC6-9FC4-71A21F6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28850"/>
            <a:ext cx="3009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support@tapgolion.id</a:t>
            </a:r>
          </a:p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https://tapgolion.id</a:t>
            </a:r>
          </a:p>
          <a:p xmlns:a="http://schemas.openxmlformats.org/drawingml/2006/main">
            <a:pPr>
              <a:defRPr sz="1200">
                <a:solidFill>
                  <a:srgbClr val="63758C"/>
                </a:solidFill>
              </a:defRPr>
            </a:pPr>
            <a:r>
              <a:rPr sz="1200">
                <a:solidFill>
                  <a:srgbClr val="63758C"/>
                </a:solidFill>
              </a:rPr>
              <a:t>Ticket DOKU: #1101182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54C81-20A4-4F92-9CEE-658BF853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7245A-5B73-49BF-9F62-ECED1D03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PT TAPGO LION INDONESIA  |  tapgolion.id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81E88-AC82-4CB0-9BCA-D510D4B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D5E6"/>
                </a:solidFill>
              </a:defRPr>
            </a:pPr>
            <a:r>
              <a:rPr sz="825" b="1">
                <a:solidFill>
                  <a:srgbClr val="C9D5E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34586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2026-07-07T13:32:08.8670000Z</dcterms:created>
  <dcterms:modified xsi:type="dcterms:W3CDTF">2026-07-07T13:32:08.8670000Z</dcterms:modified>
</coreProperties>
</file>