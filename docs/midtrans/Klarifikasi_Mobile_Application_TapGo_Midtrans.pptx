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Lst>
  <p:sldSz cx="9144000" cy="12931444" type="custom"/>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s>
</file>

<file path=ppt/slides/_rels/slide1.xml.rels><?xml version="1.0" encoding="UTF-8" standalone="yes"?><Relationships xmlns="http://schemas.openxmlformats.org/package/2006/relationships"/>
</file>

<file path=ppt/slides/_rels/slide2.xml.rels><?xml version="1.0" encoding="UTF-8" standalone="yes"?><Relationships xmlns="http://schemas.openxmlformats.org/package/2006/relationships"/>
</file>

<file path=ppt/slides/_rels/slide3.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nvSpPr>
        <p:spPr>
          <a:xfrm>
            <a:off x="0" y="0"/>
            <a:ext cx="9144000" cy="3749039"/>
          </a:xfrm>
          <a:prstGeom prst="rect">
            <a:avLst/>
          </a:prstGeom>
          <a:solidFill>
            <a:srgbClr val="06284A"/>
          </a:solidFill>
          <a:ln>
            <a:solidFill>
              <a:srgbClr val="06284A"/>
            </a:solidFill>
          </a:ln>
        </p:spPr>
        <p:txBody>
          <a:bodyPr/>
          <a:lstStyle/>
          <a:p/>
        </p:txBody>
      </p:sp>
      <p:sp>
        <p:nvSpPr>
          <p:cNvPr id="3" name="Shape 3"/>
          <p:cNvSpPr/>
          <p:nvPr/>
        </p:nvSpPr>
        <p:spPr>
          <a:xfrm>
            <a:off x="0" y="3749039"/>
            <a:ext cx="9144000" cy="73152"/>
          </a:xfrm>
          <a:prstGeom prst="rect">
            <a:avLst/>
          </a:prstGeom>
          <a:solidFill>
            <a:srgbClr val="D2A33B"/>
          </a:solidFill>
          <a:ln>
            <a:solidFill>
              <a:srgbClr val="D2A33B"/>
            </a:solidFill>
          </a:ln>
        </p:spPr>
        <p:txBody>
          <a:bodyPr/>
          <a:lstStyle/>
          <a:p/>
        </p:txBody>
      </p:sp>
      <p:sp>
        <p:nvSpPr>
          <p:cNvPr id="4" name="Text 4"/>
          <p:cNvSpPr/>
          <p:nvPr/>
        </p:nvSpPr>
        <p:spPr>
          <a:xfrm>
            <a:off x="685800" y="4251960"/>
            <a:ext cx="7772400" cy="731520"/>
          </a:xfrm>
          <a:prstGeom prst="rect">
            <a:avLst/>
          </a:prstGeom>
          <a:noFill/>
          <a:ln>
            <a:noFill/>
          </a:ln>
        </p:spPr>
        <p:txBody>
          <a:bodyPr wrap="square" lIns="0" tIns="0" rIns="0" bIns="0"/>
          <a:lstStyle/>
          <a:p>
            <a:r>
              <a:rPr lang="id-ID" sz="2800" b="1">
                <a:solidFill>
                  <a:srgbClr val="06284A"/>
                </a:solidFill>
              </a:rPr>
              <a:t>KLARIFIKASI MOBILE APPLICATION</a:t>
            </a:r>
          </a:p>
        </p:txBody>
      </p:sp>
      <p:sp>
        <p:nvSpPr>
          <p:cNvPr id="5" name="Text 5"/>
          <p:cNvSpPr/>
          <p:nvPr/>
        </p:nvSpPr>
        <p:spPr>
          <a:xfrm>
            <a:off x="685800" y="4892040"/>
            <a:ext cx="7772400" cy="365760"/>
          </a:xfrm>
          <a:prstGeom prst="rect">
            <a:avLst/>
          </a:prstGeom>
          <a:noFill/>
          <a:ln>
            <a:noFill/>
          </a:ln>
        </p:spPr>
        <p:txBody>
          <a:bodyPr wrap="square" lIns="0" tIns="0" rIns="0" bIns="0"/>
          <a:lstStyle/>
          <a:p>
            <a:r>
              <a:rPr lang="id-ID" sz="1400" b="0">
                <a:solidFill>
                  <a:srgbClr val="5C6778"/>
                </a:solidFill>
              </a:rPr>
              <a:t>Dokumen Tambahan Proses Onboarding Midtrans</a:t>
            </a:r>
          </a:p>
        </p:txBody>
      </p:sp>
      <p:sp>
        <p:nvSpPr>
          <p:cNvPr id="6" name="Shape 6"/>
          <p:cNvSpPr/>
          <p:nvPr/>
        </p:nvSpPr>
        <p:spPr>
          <a:xfrm>
            <a:off x="685800" y="5715000"/>
            <a:ext cx="7772400" cy="2011680"/>
          </a:xfrm>
          <a:prstGeom prst="roundRect">
            <a:avLst/>
          </a:prstGeom>
          <a:solidFill>
            <a:srgbClr val="F2F6FA"/>
          </a:solidFill>
          <a:ln>
            <a:solidFill>
              <a:srgbClr val="D3DDEB"/>
            </a:solidFill>
          </a:ln>
        </p:spPr>
        <p:txBody>
          <a:bodyPr/>
          <a:lstStyle/>
          <a:p/>
        </p:txBody>
      </p:sp>
      <p:sp>
        <p:nvSpPr>
          <p:cNvPr id="7" name="Text 7"/>
          <p:cNvSpPr/>
          <p:nvPr/>
        </p:nvSpPr>
        <p:spPr>
          <a:xfrm>
            <a:off x="960120" y="5989320"/>
            <a:ext cx="7223760" cy="1463040"/>
          </a:xfrm>
          <a:prstGeom prst="rect">
            <a:avLst/>
          </a:prstGeom>
          <a:noFill/>
          <a:ln>
            <a:noFill/>
          </a:ln>
        </p:spPr>
        <p:txBody>
          <a:bodyPr wrap="square" lIns="0" tIns="0" rIns="0" bIns="0"/>
          <a:lstStyle/>
          <a:p>
            <a:r>
              <a:rPr lang="id-ID" sz="1300" b="1">
                <a:solidFill>
                  <a:srgbClr val="0A2233"/>
                </a:solidFill>
              </a:rPr>
              <a:t>Merchant: PT TAPGO LION INDONESIA</a:t>
            </a:r>
          </a:p>
          <a:p>
            <a:r>
              <a:rPr lang="id-ID" sz="1300" b="1">
                <a:solidFill>
                  <a:srgbClr val="0A2233"/>
                </a:solidFill>
              </a:rPr>
              <a:t>Aplikasi: TapGo - Android Mobile Application</a:t>
            </a:r>
          </a:p>
          <a:p>
            <a:r>
              <a:rPr lang="id-ID" sz="1300" b="1">
                <a:solidFill>
                  <a:srgbClr val="0A2233"/>
                </a:solidFill>
              </a:rPr>
              <a:t>Status: Pre-Production / Internal User Acceptance Testing</a:t>
            </a:r>
          </a:p>
          <a:p>
            <a:r>
              <a:rPr lang="id-ID" sz="1300" b="1">
                <a:solidFill>
                  <a:srgbClr val="0A2233"/>
                </a:solidFill>
              </a:rPr>
              <a:t>Tanggal: 14 Juli 2026</a:t>
            </a:r>
          </a:p>
        </p:txBody>
      </p:sp>
      <p:sp>
        <p:nvSpPr>
          <p:cNvPr id="8" name="Shape 8"/>
          <p:cNvSpPr/>
          <p:nvPr/>
        </p:nvSpPr>
        <p:spPr>
          <a:xfrm>
            <a:off x="685800" y="9326880"/>
            <a:ext cx="7772400" cy="1325880"/>
          </a:xfrm>
          <a:prstGeom prst="roundRect">
            <a:avLst/>
          </a:prstGeom>
          <a:solidFill>
            <a:srgbClr val="0A2233"/>
          </a:solidFill>
          <a:ln>
            <a:solidFill>
              <a:srgbClr val="0A2233"/>
            </a:solidFill>
          </a:ln>
        </p:spPr>
        <p:txBody>
          <a:bodyPr/>
          <a:lstStyle/>
          <a:p/>
        </p:txBody>
      </p:sp>
      <p:sp>
        <p:nvSpPr>
          <p:cNvPr id="9" name="Text 9"/>
          <p:cNvSpPr/>
          <p:nvPr/>
        </p:nvSpPr>
        <p:spPr>
          <a:xfrm>
            <a:off x="960120" y="9646920"/>
            <a:ext cx="7223760" cy="822960"/>
          </a:xfrm>
          <a:prstGeom prst="rect">
            <a:avLst/>
          </a:prstGeom>
          <a:noFill/>
          <a:ln>
            <a:noFill/>
          </a:ln>
        </p:spPr>
        <p:txBody>
          <a:bodyPr wrap="square" lIns="0" tIns="0" rIns="0" bIns="0"/>
          <a:lstStyle/>
          <a:p>
            <a:r>
              <a:rPr lang="id-ID" sz="1300" b="0">
                <a:solidFill>
                  <a:srgbClr val="FFFFFF"/>
                </a:solidFill>
              </a:rPr>
              <a:t>Dokumen ini menjawab permintaan Tim Midtrans mengenai transaksi melalui aplikasi mobile dan informasi URL aplikasi.</a:t>
            </a:r>
          </a:p>
        </p:txBody>
      </p:sp>
      <p:sp>
        <p:nvSpPr>
          <p:cNvPr id="90" name="Text 90"/>
          <p:cNvSpPr/>
          <p:nvPr/>
        </p:nvSpPr>
        <p:spPr>
          <a:xfrm>
            <a:off x="640080" y="12390120"/>
            <a:ext cx="5303520" cy="228600"/>
          </a:xfrm>
          <a:prstGeom prst="rect">
            <a:avLst/>
          </a:prstGeom>
          <a:noFill/>
          <a:ln>
            <a:noFill/>
          </a:ln>
        </p:spPr>
        <p:txBody>
          <a:bodyPr wrap="square" lIns="0" tIns="0" rIns="0" bIns="0"/>
          <a:lstStyle/>
          <a:p>
            <a:r>
              <a:rPr lang="id-ID" sz="800" b="0">
                <a:solidFill>
                  <a:srgbClr val="5C6778"/>
                </a:solidFill>
              </a:rPr>
              <a:t>PT TAPGO LION INDONESIA | tapgolion.id</a:t>
            </a:r>
          </a:p>
        </p:txBody>
      </p:sp>
      <p:sp>
        <p:nvSpPr>
          <p:cNvPr id="91" name="Text 91"/>
          <p:cNvSpPr/>
          <p:nvPr/>
        </p:nvSpPr>
        <p:spPr>
          <a:xfrm>
            <a:off x="8412480" y="12390120"/>
            <a:ext cx="274320" cy="228600"/>
          </a:xfrm>
          <a:prstGeom prst="rect">
            <a:avLst/>
          </a:prstGeom>
          <a:noFill/>
          <a:ln>
            <a:noFill/>
          </a:ln>
        </p:spPr>
        <p:txBody>
          <a:bodyPr wrap="square" lIns="0" tIns="0" rIns="0" bIns="0"/>
          <a:lstStyle/>
          <a:p>
            <a:r>
              <a:rPr lang="id-ID" sz="800" b="0">
                <a:solidFill>
                  <a:srgbClr val="5C6778"/>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 2"/>
          <p:cNvSpPr/>
          <p:nvPr/>
        </p:nvSpPr>
        <p:spPr>
          <a:xfrm>
            <a:off x="685800" y="731520"/>
            <a:ext cx="7863840" cy="457200"/>
          </a:xfrm>
          <a:prstGeom prst="rect">
            <a:avLst/>
          </a:prstGeom>
          <a:noFill/>
          <a:ln>
            <a:noFill/>
          </a:ln>
        </p:spPr>
        <p:txBody>
          <a:bodyPr wrap="square" lIns="0" tIns="0" rIns="0" bIns="0"/>
          <a:lstStyle/>
          <a:p>
            <a:r>
              <a:rPr lang="id-ID" sz="2200" b="1">
                <a:solidFill>
                  <a:srgbClr val="06284A"/>
                </a:solidFill>
              </a:rPr>
              <a:t>1. Konfirmasi Transaksi Mobile</a:t>
            </a:r>
          </a:p>
        </p:txBody>
      </p:sp>
      <p:sp>
        <p:nvSpPr>
          <p:cNvPr id="3" name="Text 3"/>
          <p:cNvSpPr/>
          <p:nvPr/>
        </p:nvSpPr>
        <p:spPr>
          <a:xfrm>
            <a:off x="685800" y="1417320"/>
            <a:ext cx="7772400" cy="1371600"/>
          </a:xfrm>
          <a:prstGeom prst="rect">
            <a:avLst/>
          </a:prstGeom>
          <a:noFill/>
          <a:ln>
            <a:noFill/>
          </a:ln>
        </p:spPr>
        <p:txBody>
          <a:bodyPr wrap="square" lIns="0" tIns="0" rIns="0" bIns="0"/>
          <a:lstStyle/>
          <a:p>
            <a:r>
              <a:rPr lang="id-ID" sz="1300" b="0">
                <a:solidFill>
                  <a:srgbClr val="0A2233"/>
                </a:solidFill>
              </a:rPr>
              <a:t>PT TAPGO LION INDONESIA mengonfirmasi bahwa transaksi membership TapGo dilakukan melalui aplikasi mobile Android. Pengguna melakukan registrasi, login, memilih paket membership, meninjau checkout, dan melanjutkan pembayaran dari aplikasi TapGo. Pengguna kemudian diarahkan ke halaman pembayaran Midtrans.</a:t>
            </a:r>
          </a:p>
        </p:txBody>
      </p:sp>
      <p:sp>
        <p:nvSpPr>
          <p:cNvPr id="4" name="Text 4"/>
          <p:cNvSpPr/>
          <p:nvPr/>
        </p:nvSpPr>
        <p:spPr>
          <a:xfrm>
            <a:off x="685800" y="3657600"/>
            <a:ext cx="7863840" cy="457200"/>
          </a:xfrm>
          <a:prstGeom prst="rect">
            <a:avLst/>
          </a:prstGeom>
          <a:noFill/>
          <a:ln>
            <a:noFill/>
          </a:ln>
        </p:spPr>
        <p:txBody>
          <a:bodyPr wrap="square" lIns="0" tIns="0" rIns="0" bIns="0"/>
          <a:lstStyle/>
          <a:p>
            <a:r>
              <a:rPr lang="id-ID" sz="2200" b="1">
                <a:solidFill>
                  <a:srgbClr val="06284A"/>
                </a:solidFill>
              </a:rPr>
              <a:t>2. Status dan URL Aplikasi</a:t>
            </a:r>
          </a:p>
        </p:txBody>
      </p:sp>
      <p:sp>
        <p:nvSpPr>
          <p:cNvPr id="5" name="Shape 5"/>
          <p:cNvSpPr/>
          <p:nvPr/>
        </p:nvSpPr>
        <p:spPr>
          <a:xfrm>
            <a:off x="685800" y="4389120"/>
            <a:ext cx="7772400" cy="2743200"/>
          </a:xfrm>
          <a:prstGeom prst="roundRect">
            <a:avLst/>
          </a:prstGeom>
          <a:solidFill>
            <a:srgbClr val="F2F6FA"/>
          </a:solidFill>
          <a:ln>
            <a:solidFill>
              <a:srgbClr val="D3DDEB"/>
            </a:solidFill>
          </a:ln>
        </p:spPr>
        <p:txBody>
          <a:bodyPr/>
          <a:lstStyle/>
          <a:p/>
        </p:txBody>
      </p:sp>
      <p:sp>
        <p:nvSpPr>
          <p:cNvPr id="6" name="Text 6"/>
          <p:cNvSpPr/>
          <p:nvPr/>
        </p:nvSpPr>
        <p:spPr>
          <a:xfrm>
            <a:off x="960120" y="4709160"/>
            <a:ext cx="7132320" cy="2103120"/>
          </a:xfrm>
          <a:prstGeom prst="rect">
            <a:avLst/>
          </a:prstGeom>
          <a:noFill/>
          <a:ln>
            <a:noFill/>
          </a:ln>
        </p:spPr>
        <p:txBody>
          <a:bodyPr wrap="square" lIns="0" tIns="0" rIns="0" bIns="0"/>
          <a:lstStyle/>
          <a:p>
            <a:r>
              <a:rPr lang="id-ID" sz="1300" b="1">
                <a:solidFill>
                  <a:srgbClr val="0A2233"/>
                </a:solidFill>
              </a:rPr>
              <a:t>Nama Aplikasi: TapGo</a:t>
            </a:r>
          </a:p>
          <a:p>
            <a:r>
              <a:rPr lang="id-ID" sz="1300" b="1">
                <a:solidFill>
                  <a:srgbClr val="0A2233"/>
                </a:solidFill>
              </a:rPr>
              <a:t>Platform: Android Mobile Application</a:t>
            </a:r>
          </a:p>
          <a:p>
            <a:r>
              <a:rPr lang="id-ID" sz="1300" b="1">
                <a:solidFill>
                  <a:srgbClr val="0A2233"/>
                </a:solidFill>
              </a:rPr>
              <a:t>Status: Pre-Production / Internal User Acceptance Testing (UAT)</a:t>
            </a:r>
          </a:p>
          <a:p>
            <a:r>
              <a:rPr lang="id-ID" sz="1300" b="1">
                <a:solidFill>
                  <a:srgbClr val="0A2233"/>
                </a:solidFill>
              </a:rPr>
              <a:t>URL Google Play: Belum tersedia</a:t>
            </a:r>
          </a:p>
          <a:p>
            <a:r>
              <a:rPr lang="id-ID" sz="1300" b="1">
                <a:solidFill>
                  <a:srgbClr val="0A2233"/>
                </a:solidFill>
              </a:rPr>
              <a:t>Website resmi: https://tapgolion.id</a:t>
            </a:r>
          </a:p>
        </p:txBody>
      </p:sp>
      <p:sp>
        <p:nvSpPr>
          <p:cNvPr id="7" name="Text 7"/>
          <p:cNvSpPr/>
          <p:nvPr/>
        </p:nvSpPr>
        <p:spPr>
          <a:xfrm>
            <a:off x="685800" y="7726679"/>
            <a:ext cx="7772400" cy="1737360"/>
          </a:xfrm>
          <a:prstGeom prst="rect">
            <a:avLst/>
          </a:prstGeom>
          <a:noFill/>
          <a:ln>
            <a:noFill/>
          </a:ln>
        </p:spPr>
        <p:txBody>
          <a:bodyPr wrap="square" lIns="0" tIns="0" rIns="0" bIns="0"/>
          <a:lstStyle/>
          <a:p>
            <a:r>
              <a:rPr lang="id-ID" sz="1300" b="0">
                <a:solidFill>
                  <a:srgbClr val="0A2233"/>
                </a:solidFill>
              </a:rPr>
              <a:t>Aplikasi TapGo belum memiliki URL publik Google Play Store karena masih berada dalam tahap finalisasi onboarding payment gateway, UAT internal, dan persiapan rilis Google Play. Apabila Tim Midtrans memerlukan akses demo, rekaman alur aplikasi, screenshot tambahan, atau file APK UAT melalui kanal yang disetujui, PT TAPGO LION INDONESIA siap menyediakannya.</a:t>
            </a:r>
          </a:p>
        </p:txBody>
      </p:sp>
      <p:sp>
        <p:nvSpPr>
          <p:cNvPr id="90" name="Text 90"/>
          <p:cNvSpPr/>
          <p:nvPr/>
        </p:nvSpPr>
        <p:spPr>
          <a:xfrm>
            <a:off x="640080" y="12390120"/>
            <a:ext cx="5303520" cy="228600"/>
          </a:xfrm>
          <a:prstGeom prst="rect">
            <a:avLst/>
          </a:prstGeom>
          <a:noFill/>
          <a:ln>
            <a:noFill/>
          </a:ln>
        </p:spPr>
        <p:txBody>
          <a:bodyPr wrap="square" lIns="0" tIns="0" rIns="0" bIns="0"/>
          <a:lstStyle/>
          <a:p>
            <a:r>
              <a:rPr lang="id-ID" sz="800" b="0">
                <a:solidFill>
                  <a:srgbClr val="5C6778"/>
                </a:solidFill>
              </a:rPr>
              <a:t>PT TAPGO LION INDONESIA | tapgolion.id</a:t>
            </a:r>
          </a:p>
        </p:txBody>
      </p:sp>
      <p:sp>
        <p:nvSpPr>
          <p:cNvPr id="91" name="Text 91"/>
          <p:cNvSpPr/>
          <p:nvPr/>
        </p:nvSpPr>
        <p:spPr>
          <a:xfrm>
            <a:off x="8412480" y="12390120"/>
            <a:ext cx="274320" cy="228600"/>
          </a:xfrm>
          <a:prstGeom prst="rect">
            <a:avLst/>
          </a:prstGeom>
          <a:noFill/>
          <a:ln>
            <a:noFill/>
          </a:ln>
        </p:spPr>
        <p:txBody>
          <a:bodyPr wrap="square" lIns="0" tIns="0" rIns="0" bIns="0"/>
          <a:lstStyle/>
          <a:p>
            <a:r>
              <a:rPr lang="id-ID" sz="800" b="0">
                <a:solidFill>
                  <a:srgbClr val="5C6778"/>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 2"/>
          <p:cNvSpPr/>
          <p:nvPr/>
        </p:nvSpPr>
        <p:spPr>
          <a:xfrm>
            <a:off x="685800" y="731520"/>
            <a:ext cx="7863840" cy="457200"/>
          </a:xfrm>
          <a:prstGeom prst="rect">
            <a:avLst/>
          </a:prstGeom>
          <a:noFill/>
          <a:ln>
            <a:noFill/>
          </a:ln>
        </p:spPr>
        <p:txBody>
          <a:bodyPr wrap="square" lIns="0" tIns="0" rIns="0" bIns="0"/>
          <a:lstStyle/>
          <a:p>
            <a:r>
              <a:rPr lang="id-ID" sz="2200" b="1">
                <a:solidFill>
                  <a:srgbClr val="06284A"/>
                </a:solidFill>
              </a:rPr>
              <a:t>3. Alur Transaksi TapGo</a:t>
            </a:r>
          </a:p>
        </p:txBody>
      </p:sp>
      <p:sp>
        <p:nvSpPr>
          <p:cNvPr id="3" name="Shape 3"/>
          <p:cNvSpPr/>
          <p:nvPr/>
        </p:nvSpPr>
        <p:spPr>
          <a:xfrm>
            <a:off x="685800" y="1417320"/>
            <a:ext cx="7772400" cy="2194560"/>
          </a:xfrm>
          <a:prstGeom prst="roundRect">
            <a:avLst/>
          </a:prstGeom>
          <a:solidFill>
            <a:srgbClr val="F2F6FA"/>
          </a:solidFill>
          <a:ln>
            <a:solidFill>
              <a:srgbClr val="D3DDEB"/>
            </a:solidFill>
          </a:ln>
        </p:spPr>
        <p:txBody>
          <a:bodyPr/>
          <a:lstStyle/>
          <a:p/>
        </p:txBody>
      </p:sp>
      <p:sp>
        <p:nvSpPr>
          <p:cNvPr id="4" name="Text 4"/>
          <p:cNvSpPr/>
          <p:nvPr/>
        </p:nvSpPr>
        <p:spPr>
          <a:xfrm>
            <a:off x="960120" y="1737360"/>
            <a:ext cx="7223760" cy="1554480"/>
          </a:xfrm>
          <a:prstGeom prst="rect">
            <a:avLst/>
          </a:prstGeom>
          <a:noFill/>
          <a:ln>
            <a:noFill/>
          </a:ln>
        </p:spPr>
        <p:txBody>
          <a:bodyPr wrap="square" lIns="0" tIns="0" rIns="0" bIns="0"/>
          <a:lstStyle/>
          <a:p>
            <a:r>
              <a:rPr lang="id-ID" sz="1300" b="1">
                <a:solidFill>
                  <a:srgbClr val="06284A"/>
                </a:solidFill>
              </a:rPr>
              <a:t>Registrasi -&gt; Login -&gt; Pilih Membership -&gt; Checkout -&gt; Invoice Dibuat</a:t>
            </a:r>
          </a:p>
          <a:p>
            <a:r>
              <a:rPr lang="id-ID" sz="1300" b="1">
                <a:solidFill>
                  <a:srgbClr val="06284A"/>
                </a:solidFill>
              </a:rPr>
              <a:t>-&gt; Midtrans Payment Page -&gt; Pembayaran -&gt; Webhook Midtrans</a:t>
            </a:r>
          </a:p>
          <a:p>
            <a:r>
              <a:rPr lang="id-ID" sz="1300" b="1">
                <a:solidFill>
                  <a:srgbClr val="06284A"/>
                </a:solidFill>
              </a:rPr>
              <a:t>-&gt; Verifikasi Backend -&gt; Invoice PAID -&gt; Membership Aktif</a:t>
            </a:r>
          </a:p>
        </p:txBody>
      </p:sp>
      <p:sp>
        <p:nvSpPr>
          <p:cNvPr id="5" name="Text 5"/>
          <p:cNvSpPr/>
          <p:nvPr/>
        </p:nvSpPr>
        <p:spPr>
          <a:xfrm>
            <a:off x="685800" y="3977639"/>
            <a:ext cx="7772400" cy="822960"/>
          </a:xfrm>
          <a:prstGeom prst="rect">
            <a:avLst/>
          </a:prstGeom>
          <a:noFill/>
          <a:ln>
            <a:noFill/>
          </a:ln>
        </p:spPr>
        <p:txBody>
          <a:bodyPr wrap="square" lIns="0" tIns="0" rIns="0" bIns="0"/>
          <a:lstStyle/>
          <a:p>
            <a:r>
              <a:rPr lang="id-ID" sz="1300" b="0">
                <a:solidFill>
                  <a:srgbClr val="0A2233"/>
                </a:solidFill>
              </a:rPr>
              <a:t>Midtrans mengirimkan notifikasi pembayaran ke backend TapGo. Sistem melakukan verifikasi status pembayaran, invoice, dan nominal transaksi sebelum mengaktifkan membership pengguna.</a:t>
            </a:r>
          </a:p>
        </p:txBody>
      </p:sp>
      <p:sp>
        <p:nvSpPr>
          <p:cNvPr id="6" name="Text 6"/>
          <p:cNvSpPr/>
          <p:nvPr/>
        </p:nvSpPr>
        <p:spPr>
          <a:xfrm>
            <a:off x="685800" y="5577840"/>
            <a:ext cx="7863840" cy="457200"/>
          </a:xfrm>
          <a:prstGeom prst="rect">
            <a:avLst/>
          </a:prstGeom>
          <a:noFill/>
          <a:ln>
            <a:noFill/>
          </a:ln>
        </p:spPr>
        <p:txBody>
          <a:bodyPr wrap="square" lIns="0" tIns="0" rIns="0" bIns="0"/>
          <a:lstStyle/>
          <a:p>
            <a:r>
              <a:rPr lang="id-ID" sz="2200" b="1">
                <a:solidFill>
                  <a:srgbClr val="06284A"/>
                </a:solidFill>
              </a:rPr>
              <a:t>4. Pernyataan Resmi</a:t>
            </a:r>
          </a:p>
        </p:txBody>
      </p:sp>
      <p:sp>
        <p:nvSpPr>
          <p:cNvPr id="7" name="Text 7"/>
          <p:cNvSpPr/>
          <p:nvPr/>
        </p:nvSpPr>
        <p:spPr>
          <a:xfrm>
            <a:off x="685800" y="6263640"/>
            <a:ext cx="7772400" cy="2286000"/>
          </a:xfrm>
          <a:prstGeom prst="rect">
            <a:avLst/>
          </a:prstGeom>
          <a:noFill/>
          <a:ln>
            <a:noFill/>
          </a:ln>
        </p:spPr>
        <p:txBody>
          <a:bodyPr wrap="square" lIns="0" tIns="0" rIns="0" bIns="0"/>
          <a:lstStyle/>
          <a:p>
            <a:r>
              <a:rPr lang="id-ID" sz="1300" b="0">
                <a:solidFill>
                  <a:srgbClr val="0A2233"/>
                </a:solidFill>
              </a:rPr>
              <a:t>PT TAPGO LION INDONESIA menyatakan bahwa TapGo merupakan aplikasi mobile Android yang sedang memasuki tahap akhir persiapan produksi. Belum tersedianya URL Google Play Store bukan karena aplikasi belum dikembangkan, tetapi karena proses integrasi payment gateway, onboarding merchant, dan pengujian internal masih berlangsung.</a:t>
            </a:r>
          </a:p>
        </p:txBody>
      </p:sp>
      <p:sp>
        <p:nvSpPr>
          <p:cNvPr id="8" name="Text 8"/>
          <p:cNvSpPr/>
          <p:nvPr/>
        </p:nvSpPr>
        <p:spPr>
          <a:xfrm>
            <a:off x="685800" y="9326880"/>
            <a:ext cx="4114800" cy="914400"/>
          </a:xfrm>
          <a:prstGeom prst="rect">
            <a:avLst/>
          </a:prstGeom>
          <a:noFill/>
          <a:ln>
            <a:noFill/>
          </a:ln>
        </p:spPr>
        <p:txBody>
          <a:bodyPr wrap="square" lIns="0" tIns="0" rIns="0" bIns="0"/>
          <a:lstStyle/>
          <a:p>
            <a:r>
              <a:rPr lang="id-ID" sz="1300" b="1">
                <a:solidFill>
                  <a:srgbClr val="06284A"/>
                </a:solidFill>
              </a:rPr>
              <a:t>Hormat kami,</a:t>
            </a:r>
          </a:p>
          <a:p>
            <a:r>
              <a:rPr lang="id-ID" sz="1300" b="1">
                <a:solidFill>
                  <a:srgbClr val="06284A"/>
                </a:solidFill>
              </a:rPr>
              <a:t>Ahmad Zulhi</a:t>
            </a:r>
          </a:p>
          <a:p>
            <a:r>
              <a:rPr lang="id-ID" sz="1300" b="1">
                <a:solidFill>
                  <a:srgbClr val="06284A"/>
                </a:solidFill>
              </a:rPr>
              <a:t>Direktur</a:t>
            </a:r>
          </a:p>
          <a:p>
            <a:r>
              <a:rPr lang="id-ID" sz="1300" b="1">
                <a:solidFill>
                  <a:srgbClr val="06284A"/>
                </a:solidFill>
              </a:rPr>
              <a:t>PT TAPGO LION INDONESIA</a:t>
            </a:r>
          </a:p>
        </p:txBody>
      </p:sp>
      <p:sp>
        <p:nvSpPr>
          <p:cNvPr id="9" name="Text 9"/>
          <p:cNvSpPr/>
          <p:nvPr/>
        </p:nvSpPr>
        <p:spPr>
          <a:xfrm>
            <a:off x="5120640" y="9646920"/>
            <a:ext cx="3291840" cy="640080"/>
          </a:xfrm>
          <a:prstGeom prst="rect">
            <a:avLst/>
          </a:prstGeom>
          <a:noFill/>
          <a:ln>
            <a:noFill/>
          </a:ln>
        </p:spPr>
        <p:txBody>
          <a:bodyPr wrap="square" lIns="0" tIns="0" rIns="0" bIns="0"/>
          <a:lstStyle/>
          <a:p>
            <a:r>
              <a:rPr lang="id-ID" sz="1200" b="0">
                <a:solidFill>
                  <a:srgbClr val="5C6778"/>
                </a:solidFill>
              </a:rPr>
              <a:t>Email: support@tapgolion.id</a:t>
            </a:r>
          </a:p>
          <a:p>
            <a:r>
              <a:rPr lang="id-ID" sz="1200" b="0">
                <a:solidFill>
                  <a:srgbClr val="5C6778"/>
                </a:solidFill>
              </a:rPr>
              <a:t>Website: https://tapgolion.id</a:t>
            </a:r>
          </a:p>
        </p:txBody>
      </p:sp>
      <p:sp>
        <p:nvSpPr>
          <p:cNvPr id="90" name="Text 90"/>
          <p:cNvSpPr/>
          <p:nvPr/>
        </p:nvSpPr>
        <p:spPr>
          <a:xfrm>
            <a:off x="640080" y="12390120"/>
            <a:ext cx="5303520" cy="228600"/>
          </a:xfrm>
          <a:prstGeom prst="rect">
            <a:avLst/>
          </a:prstGeom>
          <a:noFill/>
          <a:ln>
            <a:noFill/>
          </a:ln>
        </p:spPr>
        <p:txBody>
          <a:bodyPr wrap="square" lIns="0" tIns="0" rIns="0" bIns="0"/>
          <a:lstStyle/>
          <a:p>
            <a:r>
              <a:rPr lang="id-ID" sz="800" b="0">
                <a:solidFill>
                  <a:srgbClr val="5C6778"/>
                </a:solidFill>
              </a:rPr>
              <a:t>PT TAPGO LION INDONESIA | tapgolion.id</a:t>
            </a:r>
          </a:p>
        </p:txBody>
      </p:sp>
      <p:sp>
        <p:nvSpPr>
          <p:cNvPr id="91" name="Text 91"/>
          <p:cNvSpPr/>
          <p:nvPr/>
        </p:nvSpPr>
        <p:spPr>
          <a:xfrm>
            <a:off x="8412480" y="12390120"/>
            <a:ext cx="274320" cy="228600"/>
          </a:xfrm>
          <a:prstGeom prst="rect">
            <a:avLst/>
          </a:prstGeom>
          <a:noFill/>
          <a:ln>
            <a:noFill/>
          </a:ln>
        </p:spPr>
        <p:txBody>
          <a:bodyPr wrap="square" lIns="0" tIns="0" rIns="0" bIns="0"/>
          <a:lstStyle/>
          <a:p>
            <a:r>
              <a:rPr lang="id-ID" sz="800" b="0">
                <a:solidFill>
                  <a:srgbClr val="5C6778"/>
                </a:solidFill>
              </a:rPr>
              <a:t>3</a:t>
            </a:r>
          </a:p>
        </p:txBody>
      </p:sp>
    </p:spTree>
  </p:cSld>
  <p:clrMapOvr>
    <a:masterClrMapping/>
  </p:clrMapOvr>
</p:sld>
</file>

<file path=docProps/app.xml><?xml version="1.0" encoding="utf-8"?>
<Properties xmlns="http://schemas.openxmlformats.org/officeDocument/2006/extended-properties">
  <Application>TapGo Generator</Application>
  <Slides>3</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Klarifikasi Mobile Application TapGo Midtrans</dc:title>
  <dc:creator>PT TAPGO LION INDONESIA</dc:creator>
  <cp:lastModifiedBy>PT TAPGO LION INDONESIA</cp:lastModifiedBy>
  <dcterms:created xsi:type="dcterms:W3CDTF">2026-07-14T17:12:12Z</dcterms:created>
  <dcterms:modified xsi:type="dcterms:W3CDTF">2026-07-14T17:12:12Z</dcterms:modified>
</cp:coreProperties>
</file>