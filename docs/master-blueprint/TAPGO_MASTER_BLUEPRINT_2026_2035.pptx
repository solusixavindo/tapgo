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6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3000" b="1">
                <a:solidFill>
                  <a:srgbClr val="FFFFFF"/>
                </a:solidFill>
              </a:defRPr>
            </a:pPr>
            <a:r>
              <a:t>TapGo Master Blueprint 2026-2035</a:t>
            </a:r>
          </a:p>
        </p:txBody>
      </p:sp>
      <p:sp>
        <p:nvSpPr>
          <p:cNvPr id="4" name="TextBox 3"/>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Strategic Business &amp; Financial Roadmap</a:t>
            </a:r>
          </a:p>
        </p:txBody>
      </p:sp>
      <p:sp>
        <p:nvSpPr>
          <p:cNvPr id="5" name="TextBox 4"/>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Platform Ekosistem Digital Berbasis Membership</a:t>
            </a:r>
          </a:p>
          <a:p>
            <a:pPr>
              <a:spcAft>
                <a:spcPts val="800"/>
              </a:spcAft>
              <a:defRPr sz="1800">
                <a:solidFill>
                  <a:srgbClr val="25364A"/>
                </a:solidFill>
              </a:defRPr>
            </a:pPr>
            <a:r>
              <a:t>Satu Membership, Beragam Manfaat.</a:t>
            </a:r>
          </a:p>
          <a:p>
            <a:pPr>
              <a:spcAft>
                <a:spcPts val="800"/>
              </a:spcAft>
              <a:defRPr sz="1800">
                <a:solidFill>
                  <a:srgbClr val="25364A"/>
                </a:solidFill>
              </a:defRPr>
            </a:pPr>
            <a:r>
              <a:t>PT TAPGO LION INDONESIA</a:t>
            </a:r>
          </a:p>
          <a:p>
            <a:pPr>
              <a:spcAft>
                <a:spcPts val="800"/>
              </a:spcAft>
              <a:defRPr sz="1800">
                <a:solidFill>
                  <a:srgbClr val="25364A"/>
                </a:solidFill>
              </a:defRPr>
            </a:pPr>
            <a:r>
              <a:t>Founder Chairman: Ahmad Zulhi</a:t>
            </a:r>
          </a:p>
        </p:txBody>
      </p:sp>
      <p:sp>
        <p:nvSpPr>
          <p:cNvPr id="6" name="TextBox 5"/>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pic>
        <p:nvPicPr>
          <p:cNvPr id="7" name="Picture 6" descr="TapGo_Logo_512x512.png"/>
          <p:cNvPicPr>
            <a:picLocks noChangeAspect="1"/>
          </p:cNvPicPr>
          <p:nvPr/>
        </p:nvPicPr>
        <p:blipFill>
          <a:blip r:embed="rId2"/>
          <a:stretch>
            <a:fillRect/>
          </a:stretch>
        </p:blipFill>
        <p:spPr>
          <a:xfrm>
            <a:off x="9601200" y="1554480"/>
            <a:ext cx="1280160" cy="12801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Executive Dashboard</a:t>
            </a:r>
          </a:p>
        </p:txBody>
      </p:sp>
      <p:sp>
        <p:nvSpPr>
          <p:cNvPr id="3" name="TextBox 2"/>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Current stage: Pre-Production / Internal UAT</a:t>
            </a:r>
          </a:p>
          <a:p>
            <a:pPr>
              <a:spcAft>
                <a:spcPts val="800"/>
              </a:spcAft>
              <a:defRPr sz="1800">
                <a:solidFill>
                  <a:srgbClr val="25364A"/>
                </a:solidFill>
              </a:defRPr>
            </a:pPr>
            <a:r>
              <a:t>Product readiness: Android, backend, admin, DOKU preparation</a:t>
            </a:r>
          </a:p>
          <a:p>
            <a:pPr>
              <a:spcAft>
                <a:spcPts val="800"/>
              </a:spcAft>
              <a:defRPr sz="1800">
                <a:solidFill>
                  <a:srgbClr val="25364A"/>
                </a:solidFill>
              </a:defRPr>
            </a:pPr>
            <a:r>
              <a:t>Funding requirement: illustrative Rp2-5 miliar</a:t>
            </a:r>
          </a:p>
          <a:p>
            <a:pPr>
              <a:spcAft>
                <a:spcPts val="800"/>
              </a:spcAft>
              <a:defRPr sz="1800">
                <a:solidFill>
                  <a:srgbClr val="25364A"/>
                </a:solidFill>
              </a:defRPr>
            </a:pPr>
            <a:r>
              <a:t>Break-even: model-driven target, base scenario around 2029</a:t>
            </a:r>
          </a:p>
          <a:p>
            <a:pPr>
              <a:spcAft>
                <a:spcPts val="800"/>
              </a:spcAft>
              <a:defRPr sz="1800">
                <a:solidFill>
                  <a:srgbClr val="25364A"/>
                </a:solidFill>
              </a:defRPr>
            </a:pPr>
            <a:r>
              <a:t>Key risk: payment activation, bonus liability, CAC, compliance</a:t>
            </a:r>
          </a:p>
        </p:txBody>
      </p:sp>
      <p:sp>
        <p:nvSpPr>
          <p:cNvPr id="4" name="TextBox 3"/>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1. Executive Summary</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Menjelaskan posisi strategis TapGo sebagai platform ekosistem digital berbasis membership.</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TapGo menghubungkan anggota, merchant, komunitas, dan layanan digital melalui satu identitas membership.</a:t>
            </a:r>
          </a:p>
          <a:p>
            <a:pPr>
              <a:spcAft>
                <a:spcPts val="800"/>
              </a:spcAft>
              <a:defRPr sz="1800">
                <a:solidFill>
                  <a:srgbClr val="25364A"/>
                </a:solidFill>
              </a:defRPr>
            </a:pPr>
            <a:r>
              <a:t>Membership adalah pintu masuk ekosistem, bukan satu-satunya sumber pendapatan.</a:t>
            </a:r>
          </a:p>
          <a:p>
            <a:pPr>
              <a:spcAft>
                <a:spcPts val="800"/>
              </a:spcAft>
              <a:defRPr sz="1800">
                <a:solidFill>
                  <a:srgbClr val="25364A"/>
                </a:solidFill>
              </a:defRPr>
            </a:pPr>
            <a:r>
              <a:t>Aktual per Juli 2026: produk berada pada tahap pre-production, readiness Google Play, dan payment gateway production preparation.</a:t>
            </a:r>
          </a:p>
          <a:p>
            <a:pPr>
              <a:spcAft>
                <a:spcPts val="800"/>
              </a:spcAft>
              <a:defRPr sz="1800">
                <a:solidFill>
                  <a:srgbClr val="25364A"/>
                </a:solidFill>
              </a:defRPr>
            </a:pPr>
            <a:r>
              <a:t>Target 2026: launch Android, stabilisasi pembayaran DOKU, founder program, membership, wallet, referral, dan admin console.</a:t>
            </a:r>
          </a:p>
          <a:p>
            <a:pPr>
              <a:spcAft>
                <a:spcPts val="800"/>
              </a:spcAft>
              <a:defRPr sz="1800">
                <a:solidFill>
                  <a:srgbClr val="25364A"/>
                </a:solidFill>
              </a:defRPr>
            </a:pPr>
            <a:r>
              <a:t>Strategi 2026-2035 disusun bertahap: Banten launch, Jabodetabek expansion, national ecosystem, AI, analytics, dan enterprise API.</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2. Company Profile</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Mencatat identitas resmi, visi, misi, nilai, dan governance perusahaan.</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Perusahaan: PT TAPGO LION INDONESIA.</a:t>
            </a:r>
          </a:p>
          <a:p>
            <a:pPr>
              <a:spcAft>
                <a:spcPts val="800"/>
              </a:spcAft>
              <a:defRPr sz="1800">
                <a:solidFill>
                  <a:srgbClr val="25364A"/>
                </a:solidFill>
              </a:defRPr>
            </a:pPr>
            <a:r>
              <a:t>Brand: TapGo.</a:t>
            </a:r>
          </a:p>
          <a:p>
            <a:pPr>
              <a:spcAft>
                <a:spcPts val="800"/>
              </a:spcAft>
              <a:defRPr sz="1800">
                <a:solidFill>
                  <a:srgbClr val="25364A"/>
                </a:solidFill>
              </a:defRPr>
            </a:pPr>
            <a:r>
              <a:t>Founder Chairman: Ahmad Zulhi.</a:t>
            </a:r>
          </a:p>
          <a:p>
            <a:pPr>
              <a:spcAft>
                <a:spcPts val="800"/>
              </a:spcAft>
              <a:defRPr sz="1800">
                <a:solidFill>
                  <a:srgbClr val="25364A"/>
                </a:solidFill>
              </a:defRPr>
            </a:pPr>
            <a:r>
              <a:t>Website: https://tapgolion.id.</a:t>
            </a:r>
          </a:p>
          <a:p>
            <a:pPr>
              <a:spcAft>
                <a:spcPts val="800"/>
              </a:spcAft>
              <a:defRPr sz="1800">
                <a:solidFill>
                  <a:srgbClr val="25364A"/>
                </a:solidFill>
              </a:defRPr>
            </a:pPr>
            <a:r>
              <a:t>Visi 2035: menjadi salah satu platform ekosistem digital berbasis membership terbesar di Indonesia yang menghubungkan jutaan anggota, merchant, komunitas, dan berbagai layanan digital melalui satu identitas keanggotaan yang aman, terpercaya, dan bernilai.</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3. TapGo 2035 Vision</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Mendefinisikan north star vision dan peta capaian 2026-2035.</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2026: Launch Android, Membership, Wallet, Referral, Payment Gateway, Founder Program.</a:t>
            </a:r>
          </a:p>
          <a:p>
            <a:pPr>
              <a:spcAft>
                <a:spcPts val="800"/>
              </a:spcAft>
              <a:defRPr sz="1800">
                <a:solidFill>
                  <a:srgbClr val="25364A"/>
                </a:solidFill>
              </a:defRPr>
            </a:pPr>
            <a:r>
              <a:t>2027: PPOB penuh, merchant ecosystem, QRIS melalui partner resmi, merchant dashboard.</a:t>
            </a:r>
          </a:p>
          <a:p>
            <a:pPr>
              <a:spcAft>
                <a:spcPts val="800"/>
              </a:spcAft>
              <a:defRPr sz="1800">
                <a:solidFill>
                  <a:srgbClr val="25364A"/>
                </a:solidFill>
              </a:defRPr>
            </a:pPr>
            <a:r>
              <a:t>2028: marketplace, travel services, insurance/financial protection melalui mitra berizin, iOS.</a:t>
            </a:r>
          </a:p>
          <a:p>
            <a:pPr>
              <a:spcAft>
                <a:spcPts val="800"/>
              </a:spcAft>
              <a:defRPr sz="1800">
                <a:solidFill>
                  <a:srgbClr val="25364A"/>
                </a:solidFill>
              </a:defRPr>
            </a:pPr>
            <a:r>
              <a:t>2029: POS, CRM, business tools, enterprise services.</a:t>
            </a:r>
          </a:p>
          <a:p>
            <a:pPr>
              <a:spcAft>
                <a:spcPts val="800"/>
              </a:spcAft>
              <a:defRPr sz="1800">
                <a:solidFill>
                  <a:srgbClr val="25364A"/>
                </a:solidFill>
              </a:defRPr>
            </a:pPr>
            <a:r>
              <a:t>2030: target 250.000 active members dan 20.000 merchant sebagai milestone nasional.</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4. Business Model Canvas</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Merangkum customer, value proposition, channel, revenue, partner, aktivitas, resource, dan biaya.</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Customer segments meliputi masyarakat umum, pekerja, freelancer, mahasiswa, UMKM, merchant, komunitas, agen layanan digital, dan mitra usaha.</a:t>
            </a:r>
          </a:p>
          <a:p>
            <a:pPr>
              <a:spcAft>
                <a:spcPts val="800"/>
              </a:spcAft>
              <a:defRPr sz="1800">
                <a:solidFill>
                  <a:srgbClr val="25364A"/>
                </a:solidFill>
              </a:defRPr>
            </a:pPr>
            <a:r>
              <a:t>Value proposition: satu membership untuk berbagai manfaat, akses layanan digital, peluang usaha, referral transparan, wallet dan ledger, serta merchant ecosystem.</a:t>
            </a:r>
          </a:p>
          <a:p>
            <a:pPr>
              <a:spcAft>
                <a:spcPts val="800"/>
              </a:spcAft>
              <a:defRPr sz="1800">
                <a:solidFill>
                  <a:srgbClr val="25364A"/>
                </a:solidFill>
              </a:defRPr>
            </a:pPr>
            <a:r>
              <a:t>Revenue streams: membership, PPOB margin, merchant fee, marketplace fee, withdrawal/admin fee jika berlaku, subscription, advertising, enterprise, API, dan premium feature.</a:t>
            </a:r>
          </a:p>
          <a:p>
            <a:pPr>
              <a:spcAft>
                <a:spcPts val="800"/>
              </a:spcAft>
              <a:defRPr sz="1800">
                <a:solidFill>
                  <a:srgbClr val="25364A"/>
                </a:solidFill>
              </a:defRPr>
            </a:pPr>
            <a:r>
              <a:t>Key partners: DOKU, Midtrans fallback, Google Play, cloud provider, WhatsApp provider, merchant, bank/financial institutions, dan partner berizin.</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6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3000" b="1">
                <a:solidFill>
                  <a:srgbClr val="FFFFFF"/>
                </a:solidFill>
              </a:defRPr>
            </a:pPr>
            <a:r>
              <a:t>5. Product Blueprint</a:t>
            </a:r>
          </a:p>
        </p:txBody>
      </p:sp>
      <p:sp>
        <p:nvSpPr>
          <p:cNvPr id="4" name="TextBox 3"/>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Membedakan produk aktual dan roadmap produk jangka panjang.</a:t>
            </a:r>
          </a:p>
        </p:txBody>
      </p:sp>
      <p:sp>
        <p:nvSpPr>
          <p:cNvPr id="5" name="TextBox 4"/>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Current core: Basic, Silver, Gold, Platinum, Founder Chairman, Founder Platinum, Referral, Level Bonus, Wallet, Ledger, Withdrawal, Admin Console, Payment Checkout, DOKU primary, Midtrans fallback.</a:t>
            </a:r>
          </a:p>
          <a:p>
            <a:pPr>
              <a:spcAft>
                <a:spcPts val="800"/>
              </a:spcAft>
              <a:defRPr sz="1800">
                <a:solidFill>
                  <a:srgbClr val="25364A"/>
                </a:solidFill>
              </a:defRPr>
            </a:pPr>
            <a:r>
              <a:t>Roadmap: PPOB, Merchant, QRIS melalui mitra resmi, Marketplace, Travel, Insurance partner, POS, CRM, Business subscription, AI support, Merchant analytics, API enterprise.</a:t>
            </a:r>
          </a:p>
          <a:p>
            <a:pPr>
              <a:spcAft>
                <a:spcPts val="800"/>
              </a:spcAft>
              <a:defRPr sz="1800">
                <a:solidFill>
                  <a:srgbClr val="25364A"/>
                </a:solidFill>
              </a:defRPr>
            </a:pPr>
            <a:r>
              <a:t>Setiap modul harus dinilai dari problem solved, target user, value, revenue potential, dependency, regulatory consideration, dan target tahun.</a:t>
            </a:r>
          </a:p>
        </p:txBody>
      </p:sp>
      <p:sp>
        <p:nvSpPr>
          <p:cNvPr id="6" name="TextBox 5"/>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6. Founder Program</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Menjelaskan posisi Founder Chairman dan Founder Platinum tanpa memasukkan data sensitif.</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Founder Chairman maksimal 1 akun, posisi tertinggi, Founder ID FCH-001, dan tidak masuk kuota Founder Platinum.</a:t>
            </a:r>
          </a:p>
          <a:p>
            <a:pPr>
              <a:spcAft>
                <a:spcPts val="800"/>
              </a:spcAft>
              <a:defRPr sz="1800">
                <a:solidFill>
                  <a:srgbClr val="25364A"/>
                </a:solidFill>
              </a:defRPr>
            </a:pPr>
            <a:r>
              <a:t>Founder Platinum maksimal 10 akun, membership kehormatan, tidak membuat invoice/revenue, tidak mendapat saldo PPOB awal.</a:t>
            </a:r>
          </a:p>
          <a:p>
            <a:pPr>
              <a:spcAft>
                <a:spcPts val="800"/>
              </a:spcAft>
              <a:defRPr sz="1800">
                <a:solidFill>
                  <a:srgbClr val="25364A"/>
                </a:solidFill>
              </a:defRPr>
            </a:pPr>
            <a:r>
              <a:t>Founder dapat menerima bonus dari transaksi downline valid jika status ACTIVE.</a:t>
            </a:r>
          </a:p>
          <a:p>
            <a:pPr>
              <a:spcAft>
                <a:spcPts val="800"/>
              </a:spcAft>
              <a:defRPr sz="1800">
                <a:solidFill>
                  <a:srgbClr val="25364A"/>
                </a:solidFill>
              </a:defRPr>
            </a:pPr>
            <a:r>
              <a:t>Founder tidak boleh dipindahtangankan, tidak boleh dihapus, dan status hanya ACTIVE, SUSPENDED, REVOKED.</a:t>
            </a:r>
          </a:p>
          <a:p>
            <a:pPr>
              <a:spcAft>
                <a:spcPts val="800"/>
              </a:spcAft>
              <a:defRPr sz="1800">
                <a:solidFill>
                  <a:srgbClr val="25364A"/>
                </a:solidFill>
              </a:defRPr>
            </a:pPr>
            <a:r>
              <a:t>Seluruh perubahan status wajib memiliki audit trail.</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7. Market Opportunity</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Membangun model pasar bertanggung jawab tanpa mengarang data aktual.</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Market opportunity disusun sebagai Illustrative Market Model karena data pasar final masih perlu verifikasi owner dan sumber eksternal.</a:t>
            </a:r>
          </a:p>
          <a:p>
            <a:pPr>
              <a:spcAft>
                <a:spcPts val="800"/>
              </a:spcAft>
              <a:defRPr sz="1800">
                <a:solidFill>
                  <a:srgbClr val="25364A"/>
                </a:solidFill>
              </a:defRPr>
            </a:pPr>
            <a:r>
              <a:t>Area analisis: digital economy Indonesia, mobile usage, UMKM, digital payment adoption, PPOB, community commerce, dan membership economy.</a:t>
            </a:r>
          </a:p>
          <a:p>
            <a:pPr>
              <a:spcAft>
                <a:spcPts val="800"/>
              </a:spcAft>
              <a:defRPr sz="1800">
                <a:solidFill>
                  <a:srgbClr val="25364A"/>
                </a:solidFill>
              </a:defRPr>
            </a:pPr>
            <a:r>
              <a:t>Target market awal: Banten sebagai launching market, dilanjutkan Jabodetabek, lalu ekspansi regional nasional setelah validasi.</a:t>
            </a:r>
          </a:p>
          <a:p>
            <a:pPr>
              <a:spcAft>
                <a:spcPts val="800"/>
              </a:spcAft>
              <a:defRPr sz="1800">
                <a:solidFill>
                  <a:srgbClr val="25364A"/>
                </a:solidFill>
              </a:defRPr>
            </a:pPr>
            <a:r>
              <a:t>TAM/SAM/SOM pada workbook adalah asumsi editable, bukan data aktual.</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8. Go-To-Market &amp; Marketing</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Mendefinisikan funnel, channel, KPI, dan akuisisi member/merchant.</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Member acquisition: founder network, referral, community, social media, TikTok, Instagram, WhatsApp, SEO, partnership, dan merchant-led acquisition.</a:t>
            </a:r>
          </a:p>
          <a:p>
            <a:pPr>
              <a:spcAft>
                <a:spcPts val="800"/>
              </a:spcAft>
              <a:defRPr sz="1800">
                <a:solidFill>
                  <a:srgbClr val="25364A"/>
                </a:solidFill>
              </a:defRPr>
            </a:pPr>
            <a:r>
              <a:t>Merchant acquisition: direct sales, community, regional coordinators, partnerships, onboarding program, incentive, dan training.</a:t>
            </a:r>
          </a:p>
          <a:p>
            <a:pPr>
              <a:spcAft>
                <a:spcPts val="800"/>
              </a:spcAft>
              <a:defRPr sz="1800">
                <a:solidFill>
                  <a:srgbClr val="25364A"/>
                </a:solidFill>
              </a:defRPr>
            </a:pPr>
            <a:r>
              <a:t>Marketing funnel: Awareness, Interest, Registration, Verification, Membership, First Transaction, Repeat Transaction, Referral, Retention.</a:t>
            </a:r>
          </a:p>
          <a:p>
            <a:pPr>
              <a:spcAft>
                <a:spcPts val="800"/>
              </a:spcAft>
              <a:defRPr sz="1800">
                <a:solidFill>
                  <a:srgbClr val="25364A"/>
                </a:solidFill>
              </a:defRPr>
            </a:pPr>
            <a:r>
              <a:t>KPI: CAC, conversion, activation, retention, churn, referral rate, repeat transaction, active member ratio, dan merchant activation.</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9. Technology Blueprint</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Menjelaskan arsitektur aktual dan roadmap teknis realistis.</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Aktual: Flutter Android user app, Flutter driver app, Node.js backend, REST API, PostgreSQL, Redis, DOKU primary, Midtrans secondary/fallback, GitHub, versioning, Google Play readiness.</a:t>
            </a:r>
          </a:p>
          <a:p>
            <a:pPr>
              <a:spcAft>
                <a:spcPts val="800"/>
              </a:spcAft>
              <a:defRPr sz="1800">
                <a:solidFill>
                  <a:srgbClr val="25364A"/>
                </a:solidFill>
              </a:defRPr>
            </a:pPr>
            <a:r>
              <a:t>2026: monolithic modular backend.</a:t>
            </a:r>
          </a:p>
          <a:p>
            <a:pPr>
              <a:spcAft>
                <a:spcPts val="800"/>
              </a:spcAft>
              <a:defRPr sz="1800">
                <a:solidFill>
                  <a:srgbClr val="25364A"/>
                </a:solidFill>
              </a:defRPr>
            </a:pPr>
            <a:r>
              <a:t>2027: service separation hanya jika traffic membutuhkan.</a:t>
            </a:r>
          </a:p>
          <a:p>
            <a:pPr>
              <a:spcAft>
                <a:spcPts val="800"/>
              </a:spcAft>
              <a:defRPr sz="1800">
                <a:solidFill>
                  <a:srgbClr val="25364A"/>
                </a:solidFill>
              </a:defRPr>
            </a:pPr>
            <a:r>
              <a:t>2028: event-driven processing.</a:t>
            </a:r>
          </a:p>
          <a:p>
            <a:pPr>
              <a:spcAft>
                <a:spcPts val="800"/>
              </a:spcAft>
              <a:defRPr sz="1800">
                <a:solidFill>
                  <a:srgbClr val="25364A"/>
                </a:solidFill>
              </a:defRPr>
            </a:pPr>
            <a:r>
              <a:t>2029: multi-region/high availability jika justified.</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6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3000" b="1">
                <a:solidFill>
                  <a:srgbClr val="FFFFFF"/>
                </a:solidFill>
              </a:defRPr>
            </a:pPr>
            <a:r>
              <a:t>10. Security, Risk &amp; Compliance</a:t>
            </a:r>
          </a:p>
        </p:txBody>
      </p:sp>
      <p:sp>
        <p:nvSpPr>
          <p:cNvPr id="4" name="TextBox 3"/>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Membuat risk register dan kontrol utama.</a:t>
            </a:r>
          </a:p>
        </p:txBody>
      </p:sp>
      <p:sp>
        <p:nvSpPr>
          <p:cNvPr id="5" name="TextBox 4"/>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Kontrol utama: authentication, authorization, role-based access, server-side validation, payment signature, webhook verification, idempotency, audit trail, encryption in transit, secret management, backup, disaster recovery.</a:t>
            </a:r>
          </a:p>
          <a:p>
            <a:pPr>
              <a:spcAft>
                <a:spcPts val="800"/>
              </a:spcAft>
              <a:defRPr sz="1800">
                <a:solidFill>
                  <a:srgbClr val="25364A"/>
                </a:solidFill>
              </a:defRPr>
            </a:pPr>
            <a:r>
              <a:t>Fraud focus: referral abuse, duplicate accounts, payment reconciliation, KYC, data privacy, account deletion, Google Play compliance.</a:t>
            </a:r>
          </a:p>
          <a:p>
            <a:pPr>
              <a:spcAft>
                <a:spcPts val="800"/>
              </a:spcAft>
              <a:defRPr sz="1800">
                <a:solidFill>
                  <a:srgbClr val="25364A"/>
                </a:solidFill>
              </a:defRPr>
            </a:pPr>
            <a:r>
              <a:t>Risk register mencakup probability, impact, mitigation, owner, dan early warning indicator.</a:t>
            </a:r>
          </a:p>
        </p:txBody>
      </p:sp>
      <p:sp>
        <p:nvSpPr>
          <p:cNvPr id="6" name="TextBox 5"/>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11. Organizational Blueprint</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Menentukan organisasi bertahap dan manpower plan.</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Stage 1: Founder/CEO, CTO/Product, Backend, Flutter, Operations, Finance, Customer Support, Marketing.</a:t>
            </a:r>
          </a:p>
          <a:p>
            <a:pPr>
              <a:spcAft>
                <a:spcPts val="800"/>
              </a:spcAft>
              <a:defRPr sz="1800">
                <a:solidFill>
                  <a:srgbClr val="25364A"/>
                </a:solidFill>
              </a:defRPr>
            </a:pPr>
            <a:r>
              <a:t>Stage 2: Product Team, Engineering Team, Growth Team, Merchant Operations, Risk &amp; Compliance, Finance &amp; Accounting, Customer Experience.</a:t>
            </a:r>
          </a:p>
          <a:p>
            <a:pPr>
              <a:spcAft>
                <a:spcPts val="800"/>
              </a:spcAft>
              <a:defRPr sz="1800">
                <a:solidFill>
                  <a:srgbClr val="25364A"/>
                </a:solidFill>
              </a:defRPr>
            </a:pPr>
            <a:r>
              <a:t>Stage 3: regional operations, enterprise partnership, data/AI, security, internal audit.</a:t>
            </a:r>
          </a:p>
          <a:p>
            <a:pPr>
              <a:spcAft>
                <a:spcPts val="800"/>
              </a:spcAft>
              <a:defRPr sz="1800">
                <a:solidFill>
                  <a:srgbClr val="25364A"/>
                </a:solidFill>
              </a:defRPr>
            </a:pPr>
            <a:r>
              <a:t>Gaji dan headcount pada model adalah asumsi dan perlu konfirmasi owner.</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12. Modal Investasi</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Menghitung baseline initial investment dan klasifikasi biaya.</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Baseline moderat: product development Rp350 juta, infrastructure setup Rp75 juta, device/equipment Rp75 juta, branding Rp30 juta, legal/compliance/HKI Rp40 juta, initial marketing Rp100 juta, office/setup Rp50 juta, contingency Rp80 juta.</a:t>
            </a:r>
          </a:p>
          <a:p>
            <a:pPr>
              <a:spcAft>
                <a:spcPts val="800"/>
              </a:spcAft>
              <a:defRPr sz="1800">
                <a:solidFill>
                  <a:srgbClr val="25364A"/>
                </a:solidFill>
              </a:defRPr>
            </a:pPr>
            <a:r>
              <a:t>Total baseline: Rp800 juta.</a:t>
            </a:r>
          </a:p>
          <a:p>
            <a:pPr>
              <a:spcAft>
                <a:spcPts val="800"/>
              </a:spcAft>
              <a:defRPr sz="1800">
                <a:solidFill>
                  <a:srgbClr val="25364A"/>
                </a:solidFill>
              </a:defRPr>
            </a:pPr>
            <a:r>
              <a:t>Nilai aktual sunk cost, capitalizable assets, dan kebutuhan dana baru perlu konfirmasi owner.</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13. Modal Kerja</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Menghitung kebutuhan working capital 6, 12, dan 18 bulan.</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Baseline monthly operating budget moderat: Rp159,5 juta per bulan.</a:t>
            </a:r>
          </a:p>
          <a:p>
            <a:pPr>
              <a:spcAft>
                <a:spcPts val="800"/>
              </a:spcAft>
              <a:defRPr sz="1800">
                <a:solidFill>
                  <a:srgbClr val="25364A"/>
                </a:solidFill>
              </a:defRPr>
            </a:pPr>
            <a:r>
              <a:t>Runway 6 bulan: Rp957 juta.</a:t>
            </a:r>
          </a:p>
          <a:p>
            <a:pPr>
              <a:spcAft>
                <a:spcPts val="800"/>
              </a:spcAft>
              <a:defRPr sz="1800">
                <a:solidFill>
                  <a:srgbClr val="25364A"/>
                </a:solidFill>
              </a:defRPr>
            </a:pPr>
            <a:r>
              <a:t>Runway 12 bulan: Rp1,914 miliar.</a:t>
            </a:r>
          </a:p>
          <a:p>
            <a:pPr>
              <a:spcAft>
                <a:spcPts val="800"/>
              </a:spcAft>
              <a:defRPr sz="1800">
                <a:solidFill>
                  <a:srgbClr val="25364A"/>
                </a:solidFill>
              </a:defRPr>
            </a:pPr>
            <a:r>
              <a:t>Runway 18 bulan: Rp2,871 miliar.</a:t>
            </a:r>
          </a:p>
          <a:p>
            <a:pPr>
              <a:spcAft>
                <a:spcPts val="800"/>
              </a:spcAft>
              <a:defRPr sz="1800">
                <a:solidFill>
                  <a:srgbClr val="25364A"/>
                </a:solidFill>
              </a:defRPr>
            </a:pPr>
            <a:r>
              <a:t>Minimum cash reserve dan emergency reserve dihitung di workbook.</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14. Fixed Cost</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Menyusun fixed cost bulanan dan tahunan 2026-2030.</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Komponen: salaries, office, internet, software, accounting, legal, compliance, base cloud, monitoring, customer support, insurance, admin.</a:t>
            </a:r>
          </a:p>
          <a:p>
            <a:pPr>
              <a:spcAft>
                <a:spcPts val="800"/>
              </a:spcAft>
              <a:defRPr sz="1800">
                <a:solidFill>
                  <a:srgbClr val="25364A"/>
                </a:solidFill>
              </a:defRPr>
            </a:pPr>
            <a:r>
              <a:t>Semua nilai fixed cost adalah asumsi editable pada Excel.</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6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3000" b="1">
                <a:solidFill>
                  <a:srgbClr val="FFFFFF"/>
                </a:solidFill>
              </a:defRPr>
            </a:pPr>
            <a:r>
              <a:t>15. Variable Cost</a:t>
            </a:r>
          </a:p>
        </p:txBody>
      </p:sp>
      <p:sp>
        <p:nvSpPr>
          <p:cNvPr id="4" name="TextBox 3"/>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Menyusun driver variable cost dan biaya skala transaksi.</a:t>
            </a:r>
          </a:p>
        </p:txBody>
      </p:sp>
      <p:sp>
        <p:nvSpPr>
          <p:cNvPr id="5" name="TextBox 4"/>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Driver: payment gateway fee, OTP, WhatsApp, email, cloud usage, storage, CDN, support scaling, merchant acquisition, referral bonus, level bonus, reward, transfer cost, fraud loss, refund/chargeback, tax.</a:t>
            </a:r>
          </a:p>
          <a:p>
            <a:pPr>
              <a:spcAft>
                <a:spcPts val="800"/>
              </a:spcAft>
              <a:defRPr sz="1800">
                <a:solidFill>
                  <a:srgbClr val="25364A"/>
                </a:solidFill>
              </a:defRPr>
            </a:pPr>
            <a:r>
              <a:t>Tarif gateway tidak dikarang; gunakan assumption cells yang dapat diisi setelah kontrak final.</a:t>
            </a:r>
          </a:p>
        </p:txBody>
      </p:sp>
      <p:sp>
        <p:nvSpPr>
          <p:cNvPr id="6" name="TextBox 5"/>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16. Membership Economics</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Membuat waterfall per paket membership.</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Harga: Basic Rp0, Silver Rp500.000, Gold Rp3.000.000, Platinum Rp5.500.000.</a:t>
            </a:r>
          </a:p>
          <a:p>
            <a:pPr>
              <a:spcAft>
                <a:spcPts val="800"/>
              </a:spcAft>
              <a:defRPr sz="1800">
                <a:solidFill>
                  <a:srgbClr val="25364A"/>
                </a:solidFill>
              </a:defRPr>
            </a:pPr>
            <a:r>
              <a:t>Waterfall menghitung gross revenue dikurangi payment gateway, PPOB benefit, merchandise, partner benefit, sponsor bonus, level bonus, reward provision, tax, dan operational allocation.</a:t>
            </a:r>
          </a:p>
          <a:p>
            <a:pPr>
              <a:spcAft>
                <a:spcPts val="800"/>
              </a:spcAft>
              <a:defRPr sz="1800">
                <a:solidFill>
                  <a:srgbClr val="25364A"/>
                </a:solidFill>
              </a:defRPr>
            </a:pPr>
            <a:r>
              <a:t>Margin positif tidak disimpulkan sampai biaya partner final terkonfirmasi.</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17. Bonus Liability Model</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Menghitung exposure bonus dan stress test payout.</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Level bonus: 8%, 4%, 2%, 2%, 2%, 1%, 1%, 1%, 1%, 1%.</a:t>
            </a:r>
          </a:p>
          <a:p>
            <a:pPr>
              <a:spcAft>
                <a:spcPts val="800"/>
              </a:spcAft>
              <a:defRPr sz="1800">
                <a:solidFill>
                  <a:srgbClr val="25364A"/>
                </a:solidFill>
              </a:defRPr>
            </a:pPr>
            <a:r>
              <a:t>Model mencakup maximum payout ratio, actual payout ratio, qualification adjustment, unearned bonus, reserve, fraud reserve, dan liability exposure.</a:t>
            </a:r>
          </a:p>
          <a:p>
            <a:pPr>
              <a:spcAft>
                <a:spcPts val="800"/>
              </a:spcAft>
              <a:defRPr sz="1800">
                <a:solidFill>
                  <a:srgbClr val="25364A"/>
                </a:solidFill>
              </a:defRPr>
            </a:pPr>
            <a:r>
              <a:t>Stress test: 25%, 40%, 60%, dan worst-case network concentration.</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18. Five-Year Financial Projection</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Membangun proyeksi 2026-2030 untuk tiga skenario.</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Model mencakup users, active users, paid members, package mix, merchant, transaction count, GMV, revenue, cost of revenue, gross profit, opex, EBITDA, EBIT, tax, net profit, working capital, capex, dan free cash flow.</a:t>
            </a:r>
          </a:p>
          <a:p>
            <a:pPr>
              <a:spcAft>
                <a:spcPts val="800"/>
              </a:spcAft>
              <a:defRPr sz="1800">
                <a:solidFill>
                  <a:srgbClr val="25364A"/>
                </a:solidFill>
              </a:defRPr>
            </a:pPr>
            <a:r>
              <a:t>Skenario: Conservative, Base/Moderate, Growth/Aggressive.</a:t>
            </a:r>
          </a:p>
          <a:p>
            <a:pPr>
              <a:spcAft>
                <a:spcPts val="800"/>
              </a:spcAft>
              <a:defRPr sz="1800">
                <a:solidFill>
                  <a:srgbClr val="25364A"/>
                </a:solidFill>
              </a:defRPr>
            </a:pPr>
            <a:r>
              <a:t>Semua formula terhubung ke assumption sheet.</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19. Balance Sheet</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Membuat proyeksi neraca berbasis model finansial.</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Assets: cash, receivables, prepaid expenses, equipment, software development asset jika memenuhi kebijakan akuntansi.</a:t>
            </a:r>
          </a:p>
          <a:p>
            <a:pPr>
              <a:spcAft>
                <a:spcPts val="800"/>
              </a:spcAft>
              <a:defRPr sz="1800">
                <a:solidFill>
                  <a:srgbClr val="25364A"/>
                </a:solidFill>
              </a:defRPr>
            </a:pPr>
            <a:r>
              <a:t>Liabilities: payables, bonus liability, tax, deferred revenue, partner liability, loans jika ada.</a:t>
            </a:r>
          </a:p>
          <a:p>
            <a:pPr>
              <a:spcAft>
                <a:spcPts val="800"/>
              </a:spcAft>
              <a:defRPr sz="1800">
                <a:solidFill>
                  <a:srgbClr val="25364A"/>
                </a:solidFill>
              </a:defRPr>
            </a:pPr>
            <a:r>
              <a:t>Equity: paid-in capital, retained earnings, investor funds.</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6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3000" b="1">
                <a:solidFill>
                  <a:srgbClr val="FFFFFF"/>
                </a:solidFill>
              </a:defRPr>
            </a:pPr>
            <a:r>
              <a:t>20. Cash Flow</a:t>
            </a:r>
          </a:p>
        </p:txBody>
      </p:sp>
      <p:sp>
        <p:nvSpPr>
          <p:cNvPr id="4" name="TextBox 3"/>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Membangun arus kas dan runway.</a:t>
            </a:r>
          </a:p>
        </p:txBody>
      </p:sp>
      <p:sp>
        <p:nvSpPr>
          <p:cNvPr id="5" name="TextBox 4"/>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Cash flow mencakup operating, investing, financing, ending cash, minimum cash threshold, monthly burn, dan runway.</a:t>
            </a:r>
          </a:p>
          <a:p>
            <a:pPr>
              <a:spcAft>
                <a:spcPts val="800"/>
              </a:spcAft>
              <a:defRPr sz="1800">
                <a:solidFill>
                  <a:srgbClr val="25364A"/>
                </a:solidFill>
              </a:defRPr>
            </a:pPr>
            <a:r>
              <a:t>Workbook menyertakan cash runway chart 24 bulan.</a:t>
            </a:r>
          </a:p>
        </p:txBody>
      </p:sp>
      <p:sp>
        <p:nvSpPr>
          <p:cNvPr id="6" name="TextBox 5"/>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21. Break-Even Analysis</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Menghitung break-even paid members, revenue, transaction volume, merchant count, dan month.</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Analisis sensitivity mencakup package mix, bonus payout, CAC, dan fixed cost.</a:t>
            </a:r>
          </a:p>
          <a:p>
            <a:pPr>
              <a:spcAft>
                <a:spcPts val="800"/>
              </a:spcAft>
              <a:defRPr sz="1800">
                <a:solidFill>
                  <a:srgbClr val="25364A"/>
                </a:solidFill>
              </a:defRPr>
            </a:pPr>
            <a:r>
              <a:t>Break-even adalah model ilustratif, bukan janji kinerja.</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22. Unit Economics</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Mengukur CAC, LTV, margin, payback, activation, retention, churn, ARPU, ARPPU, dan merchant revenue.</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Data aktual belum tersedia; workbook menyediakan placeholders editable.</a:t>
            </a:r>
          </a:p>
          <a:p>
            <a:pPr>
              <a:spcAft>
                <a:spcPts val="800"/>
              </a:spcAft>
              <a:defRPr sz="1800">
                <a:solidFill>
                  <a:srgbClr val="25364A"/>
                </a:solidFill>
              </a:defRPr>
            </a:pPr>
            <a:r>
              <a:t>Setiap metrik perlu diisi dengan data cohort setelah launch.</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23. Funding Strategy</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Menyusun milestone pendanaan tanpa menyatakan dana sudah diperoleh.</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Bootstrapping / Founder Capital.</a:t>
            </a:r>
          </a:p>
          <a:p>
            <a:pPr>
              <a:spcAft>
                <a:spcPts val="800"/>
              </a:spcAft>
              <a:defRPr sz="1800">
                <a:solidFill>
                  <a:srgbClr val="25364A"/>
                </a:solidFill>
              </a:defRPr>
            </a:pPr>
            <a:r>
              <a:t>Seed illustrative range: Rp2-5 miliar.</a:t>
            </a:r>
          </a:p>
          <a:p>
            <a:pPr>
              <a:spcAft>
                <a:spcPts val="800"/>
              </a:spcAft>
              <a:defRPr sz="1800">
                <a:solidFill>
                  <a:srgbClr val="25364A"/>
                </a:solidFill>
              </a:defRPr>
            </a:pPr>
            <a:r>
              <a:t>Pre-Series A hanya setelah repeatable acquisition dan unit economics mulai tervalidasi.</a:t>
            </a:r>
          </a:p>
          <a:p>
            <a:pPr>
              <a:spcAft>
                <a:spcPts val="800"/>
              </a:spcAft>
              <a:defRPr sz="1800">
                <a:solidFill>
                  <a:srgbClr val="25364A"/>
                </a:solidFill>
              </a:defRPr>
            </a:pPr>
            <a:r>
              <a:t>Series A hanya setelah product-market fit dan kontribusi margin positif.</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24. Valuation</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Menyusun pendekatan valuasi dengan disclaimer early-stage.</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Metode: Revenue Multiple, EBITDA Multiple, DCF, Venture Capital Method.</a:t>
            </a:r>
          </a:p>
          <a:p>
            <a:pPr>
              <a:spcAft>
                <a:spcPts val="800"/>
              </a:spcAft>
              <a:defRPr sz="1800">
                <a:solidFill>
                  <a:srgbClr val="25364A"/>
                </a:solidFill>
              </a:defRPr>
            </a:pPr>
            <a:r>
              <a:t>Valuasi ditampilkan sebagai range yang sangat sensitif terhadap asumsi.</a:t>
            </a:r>
          </a:p>
          <a:p>
            <a:pPr>
              <a:spcAft>
                <a:spcPts val="800"/>
              </a:spcAft>
              <a:defRPr sz="1800">
                <a:solidFill>
                  <a:srgbClr val="25364A"/>
                </a:solidFill>
              </a:defRPr>
            </a:pPr>
            <a:r>
              <a:t>Bukan appraisal resmi.</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62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685800"/>
          </a:xfrm>
          <a:prstGeom prst="rect">
            <a:avLst/>
          </a:prstGeom>
          <a:noFill/>
        </p:spPr>
        <p:txBody>
          <a:bodyPr wrap="none">
            <a:spAutoFit/>
          </a:bodyPr>
          <a:lstStyle/>
          <a:p>
            <a:pPr>
              <a:defRPr sz="3000" b="1">
                <a:solidFill>
                  <a:srgbClr val="FFFFFF"/>
                </a:solidFill>
              </a:defRPr>
            </a:pPr>
            <a:r>
              <a:t>25. KPI Dashboard</a:t>
            </a:r>
          </a:p>
        </p:txBody>
      </p:sp>
      <p:sp>
        <p:nvSpPr>
          <p:cNvPr id="4" name="TextBox 3"/>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Menentukan KPI member, merchant, payment, finance, marketing, dan operations.</a:t>
            </a:r>
          </a:p>
        </p:txBody>
      </p:sp>
      <p:sp>
        <p:nvSpPr>
          <p:cNvPr id="5" name="TextBox 4"/>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Member: registered, active, paid, churn, retention.</a:t>
            </a:r>
          </a:p>
          <a:p>
            <a:pPr>
              <a:spcAft>
                <a:spcPts val="800"/>
              </a:spcAft>
              <a:defRPr sz="1800">
                <a:solidFill>
                  <a:srgbClr val="25364A"/>
                </a:solidFill>
              </a:defRPr>
            </a:pPr>
            <a:r>
              <a:t>Merchant: registered, active, GMV, revenue.</a:t>
            </a:r>
          </a:p>
          <a:p>
            <a:pPr>
              <a:spcAft>
                <a:spcPts val="800"/>
              </a:spcAft>
              <a:defRPr sz="1800">
                <a:solidFill>
                  <a:srgbClr val="25364A"/>
                </a:solidFill>
              </a:defRPr>
            </a:pPr>
            <a:r>
              <a:t>Payment: success rate, webhook success, refund, chargeback.</a:t>
            </a:r>
          </a:p>
          <a:p>
            <a:pPr>
              <a:spcAft>
                <a:spcPts val="800"/>
              </a:spcAft>
              <a:defRPr sz="1800">
                <a:solidFill>
                  <a:srgbClr val="25364A"/>
                </a:solidFill>
              </a:defRPr>
            </a:pPr>
            <a:r>
              <a:t>Finance: revenue, gross margin, EBITDA, burn, runway, cash.</a:t>
            </a:r>
          </a:p>
          <a:p>
            <a:pPr>
              <a:spcAft>
                <a:spcPts val="800"/>
              </a:spcAft>
              <a:defRPr sz="1800">
                <a:solidFill>
                  <a:srgbClr val="25364A"/>
                </a:solidFill>
              </a:defRPr>
            </a:pPr>
            <a:r>
              <a:t>Operations: ticket SLA, NPS, uptime, fraud rate.</a:t>
            </a:r>
          </a:p>
        </p:txBody>
      </p:sp>
      <p:sp>
        <p:nvSpPr>
          <p:cNvPr id="6" name="TextBox 5"/>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26. Corporate Roadmap</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Menampilkan roadmap visual 2026-2035 dengan milestone, KPI, budget, dependency, dan exit criteria.</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2026: Product Launch.</a:t>
            </a:r>
          </a:p>
          <a:p>
            <a:pPr>
              <a:spcAft>
                <a:spcPts val="800"/>
              </a:spcAft>
              <a:defRPr sz="1800">
                <a:solidFill>
                  <a:srgbClr val="25364A"/>
                </a:solidFill>
              </a:defRPr>
            </a:pPr>
            <a:r>
              <a:t>2027: Transaction &amp; Merchant Expansion.</a:t>
            </a:r>
          </a:p>
          <a:p>
            <a:pPr>
              <a:spcAft>
                <a:spcPts val="800"/>
              </a:spcAft>
              <a:defRPr sz="1800">
                <a:solidFill>
                  <a:srgbClr val="25364A"/>
                </a:solidFill>
              </a:defRPr>
            </a:pPr>
            <a:r>
              <a:t>2028: Marketplace &amp; Partner Services.</a:t>
            </a:r>
          </a:p>
          <a:p>
            <a:pPr>
              <a:spcAft>
                <a:spcPts val="800"/>
              </a:spcAft>
              <a:defRPr sz="1800">
                <a:solidFill>
                  <a:srgbClr val="25364A"/>
                </a:solidFill>
              </a:defRPr>
            </a:pPr>
            <a:r>
              <a:t>2029: Business Platform.</a:t>
            </a:r>
          </a:p>
          <a:p>
            <a:pPr>
              <a:spcAft>
                <a:spcPts val="800"/>
              </a:spcAft>
              <a:defRPr sz="1800">
                <a:solidFill>
                  <a:srgbClr val="25364A"/>
                </a:solidFill>
              </a:defRPr>
            </a:pPr>
            <a:r>
              <a:t>2030: National Ecosystem.</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27. SOP &amp; Operations</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Meringkas SOP operasional pada level blueprint.</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SOP mencakup member onboarding, merchant onboarding, payment reconciliation, withdrawal, fraud, complaint, refund, account deletion, incident response, backup, DR, access control, financial closing, internal audit.</a:t>
            </a:r>
          </a:p>
          <a:p>
            <a:pPr>
              <a:spcAft>
                <a:spcPts val="800"/>
              </a:spcAft>
              <a:defRPr sz="1800">
                <a:solidFill>
                  <a:srgbClr val="25364A"/>
                </a:solidFill>
              </a:defRPr>
            </a:pPr>
            <a:r>
              <a:t>Dokumen teknis SOP terpisah menjadi referensi operasional.</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28. Investment Case</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Merangkum alasan strategis TapGo menarik untuk investor/partner tanpa menjanjikan ROI.</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Why TapGo: scalable membership-led ecosystem, multiple revenue streams, proprietary technology, referral-driven growth, merchant expansion, digital payment infrastructure, documented governance, long-term roadmap.</a:t>
            </a:r>
          </a:p>
          <a:p>
            <a:pPr>
              <a:spcAft>
                <a:spcPts val="800"/>
              </a:spcAft>
              <a:defRPr sz="1800">
                <a:solidFill>
                  <a:srgbClr val="25364A"/>
                </a:solidFill>
              </a:defRPr>
            </a:pPr>
            <a:r>
              <a:t>Investment risks, expected milestones, potential exit options, dan strategic partnership opportunity disampaikan dengan disclaimer.</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29. Executive Book</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Menjadi ringkasan cepat untuk pembaca investor 10-15 menit.</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Executive book mencakup opportunity, solution, product, market, business model, readiness, financial highlights, funding ask, roadmap, team, risk, closing.</a:t>
            </a:r>
          </a:p>
          <a:p>
            <a:pPr>
              <a:spcAft>
                <a:spcPts val="800"/>
              </a:spcAft>
              <a:defRPr sz="1800">
                <a:solidFill>
                  <a:srgbClr val="25364A"/>
                </a:solidFill>
              </a:defRPr>
            </a:pPr>
            <a:r>
              <a:t>Versi ringkas dibuat sebagai PDF terpisah 15-25 halaman.</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Illustrative Financial Scenario</a:t>
            </a:r>
          </a:p>
        </p:txBody>
      </p:sp>
      <p:sp>
        <p:nvSpPr>
          <p:cNvPr id="3" name="TextBox 2"/>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Conservative: slower acquisition and lower paid conversion</a:t>
            </a:r>
          </a:p>
          <a:p>
            <a:pPr>
              <a:spcAft>
                <a:spcPts val="800"/>
              </a:spcAft>
              <a:defRPr sz="1800">
                <a:solidFill>
                  <a:srgbClr val="25364A"/>
                </a:solidFill>
              </a:defRPr>
            </a:pPr>
            <a:r>
              <a:t>Base: controlled Banten launch and Jabodetabek expansion</a:t>
            </a:r>
          </a:p>
          <a:p>
            <a:pPr>
              <a:spcAft>
                <a:spcPts val="800"/>
              </a:spcAft>
              <a:defRPr sz="1800">
                <a:solidFill>
                  <a:srgbClr val="25364A"/>
                </a:solidFill>
              </a:defRPr>
            </a:pPr>
            <a:r>
              <a:t>Growth: faster regional scale with higher execution cost</a:t>
            </a:r>
          </a:p>
          <a:p>
            <a:pPr>
              <a:spcAft>
                <a:spcPts val="800"/>
              </a:spcAft>
              <a:defRPr sz="1800">
                <a:solidFill>
                  <a:srgbClr val="25364A"/>
                </a:solidFill>
              </a:defRPr>
            </a:pPr>
            <a:r>
              <a:t>All numbers are formulas in the Excel model</a:t>
            </a:r>
          </a:p>
        </p:txBody>
      </p:sp>
      <p:sp>
        <p:nvSpPr>
          <p:cNvPr id="4" name="TextBox 3"/>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Funding Requirement</a:t>
            </a:r>
          </a:p>
        </p:txBody>
      </p:sp>
      <p:sp>
        <p:nvSpPr>
          <p:cNvPr id="3" name="TextBox 2"/>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Initial investment baseline: Rp800 juta</a:t>
            </a:r>
          </a:p>
          <a:p>
            <a:pPr>
              <a:spcAft>
                <a:spcPts val="800"/>
              </a:spcAft>
              <a:defRPr sz="1800">
                <a:solidFill>
                  <a:srgbClr val="25364A"/>
                </a:solidFill>
              </a:defRPr>
            </a:pPr>
            <a:r>
              <a:t>Monthly operating budget baseline: Rp159,5 juta</a:t>
            </a:r>
          </a:p>
          <a:p>
            <a:pPr>
              <a:spcAft>
                <a:spcPts val="800"/>
              </a:spcAft>
              <a:defRPr sz="1800">
                <a:solidFill>
                  <a:srgbClr val="25364A"/>
                </a:solidFill>
              </a:defRPr>
            </a:pPr>
            <a:r>
              <a:t>Seed range: Rp2-5 miliar illustrative</a:t>
            </a:r>
          </a:p>
          <a:p>
            <a:pPr>
              <a:spcAft>
                <a:spcPts val="800"/>
              </a:spcAft>
              <a:defRPr sz="1800">
                <a:solidFill>
                  <a:srgbClr val="25364A"/>
                </a:solidFill>
              </a:defRPr>
            </a:pPr>
            <a:r>
              <a:t>Use of funds: product, team, marketing, merchant, compliance, reserve</a:t>
            </a:r>
          </a:p>
        </p:txBody>
      </p:sp>
      <p:sp>
        <p:nvSpPr>
          <p:cNvPr id="4" name="TextBox 3"/>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Break-Even Path</a:t>
            </a:r>
          </a:p>
        </p:txBody>
      </p:sp>
      <p:sp>
        <p:nvSpPr>
          <p:cNvPr id="3" name="TextBox 2"/>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Break-even depends on paid members, package mix, CAC, and bonus payout</a:t>
            </a:r>
          </a:p>
          <a:p>
            <a:pPr>
              <a:spcAft>
                <a:spcPts val="800"/>
              </a:spcAft>
              <a:defRPr sz="1800">
                <a:solidFill>
                  <a:srgbClr val="25364A"/>
                </a:solidFill>
              </a:defRPr>
            </a:pPr>
            <a:r>
              <a:t>Base scenario estimates break-even around 2029</a:t>
            </a:r>
          </a:p>
          <a:p>
            <a:pPr>
              <a:spcAft>
                <a:spcPts val="800"/>
              </a:spcAft>
              <a:defRPr sz="1800">
                <a:solidFill>
                  <a:srgbClr val="25364A"/>
                </a:solidFill>
              </a:defRPr>
            </a:pPr>
            <a:r>
              <a:t>Sensitivity must be updated after launch data is available</a:t>
            </a:r>
          </a:p>
        </p:txBody>
      </p:sp>
      <p:sp>
        <p:nvSpPr>
          <p:cNvPr id="4" name="TextBox 3"/>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Risk Register</a:t>
            </a:r>
          </a:p>
        </p:txBody>
      </p:sp>
      <p:sp>
        <p:nvSpPr>
          <p:cNvPr id="3" name="TextBox 2"/>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Fraud referral</a:t>
            </a:r>
          </a:p>
          <a:p>
            <a:pPr>
              <a:spcAft>
                <a:spcPts val="800"/>
              </a:spcAft>
              <a:defRPr sz="1800">
                <a:solidFill>
                  <a:srgbClr val="25364A"/>
                </a:solidFill>
              </a:defRPr>
            </a:pPr>
            <a:r>
              <a:t>Cash flow stress</a:t>
            </a:r>
          </a:p>
          <a:p>
            <a:pPr>
              <a:spcAft>
                <a:spcPts val="800"/>
              </a:spcAft>
              <a:defRPr sz="1800">
                <a:solidFill>
                  <a:srgbClr val="25364A"/>
                </a:solidFill>
              </a:defRPr>
            </a:pPr>
            <a:r>
              <a:t>Payment failure</a:t>
            </a:r>
          </a:p>
          <a:p>
            <a:pPr>
              <a:spcAft>
                <a:spcPts val="800"/>
              </a:spcAft>
              <a:defRPr sz="1800">
                <a:solidFill>
                  <a:srgbClr val="25364A"/>
                </a:solidFill>
              </a:defRPr>
            </a:pPr>
            <a:r>
              <a:t>Regulatory and compliance risk</a:t>
            </a:r>
          </a:p>
          <a:p>
            <a:pPr>
              <a:spcAft>
                <a:spcPts val="800"/>
              </a:spcAft>
              <a:defRPr sz="1800">
                <a:solidFill>
                  <a:srgbClr val="25364A"/>
                </a:solidFill>
              </a:defRPr>
            </a:pPr>
            <a:r>
              <a:t>Cybersecurity and data privacy</a:t>
            </a:r>
          </a:p>
          <a:p>
            <a:pPr>
              <a:spcAft>
                <a:spcPts val="800"/>
              </a:spcAft>
              <a:defRPr sz="1800">
                <a:solidFill>
                  <a:srgbClr val="25364A"/>
                </a:solidFill>
              </a:defRPr>
            </a:pPr>
            <a:r>
              <a:t>Uncontrolled bonus liability</a:t>
            </a:r>
          </a:p>
        </p:txBody>
      </p:sp>
      <p:sp>
        <p:nvSpPr>
          <p:cNvPr id="4" name="TextBox 3"/>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Closing</a:t>
            </a:r>
          </a:p>
        </p:txBody>
      </p:sp>
      <p:sp>
        <p:nvSpPr>
          <p:cNvPr id="3" name="TextBox 2"/>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TapGo is positioned as a membership-led digital ecosystem</a:t>
            </a:r>
          </a:p>
          <a:p>
            <a:pPr>
              <a:spcAft>
                <a:spcPts val="800"/>
              </a:spcAft>
              <a:defRPr sz="1800">
                <a:solidFill>
                  <a:srgbClr val="25364A"/>
                </a:solidFill>
              </a:defRPr>
            </a:pPr>
            <a:r>
              <a:t>Roadmap is staged, realistic, and data-driven</a:t>
            </a:r>
          </a:p>
          <a:p>
            <a:pPr>
              <a:spcAft>
                <a:spcPts val="800"/>
              </a:spcAft>
              <a:defRPr sz="1800">
                <a:solidFill>
                  <a:srgbClr val="25364A"/>
                </a:solidFill>
              </a:defRPr>
            </a:pPr>
            <a:r>
              <a:t>Next milestone: production payment UAT and launch readiness</a:t>
            </a:r>
          </a:p>
          <a:p>
            <a:pPr>
              <a:spcAft>
                <a:spcPts val="800"/>
              </a:spcAft>
              <a:defRPr sz="1800">
                <a:solidFill>
                  <a:srgbClr val="25364A"/>
                </a:solidFill>
              </a:defRPr>
            </a:pPr>
            <a:r>
              <a:t>Dokumen ini merupakan rencana strategis dan model keuangan internal. Proyeksi, valuasi, target, dan estimasi di dalamnya didasarkan pada asumsi yang dapat berubah. Dokumen ini bukan penawaran efek, jaminan keuntungan, audit keuangan, atau appraisal independen.</a:t>
            </a:r>
          </a:p>
        </p:txBody>
      </p:sp>
      <p:sp>
        <p:nvSpPr>
          <p:cNvPr id="4" name="TextBox 3"/>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3: Go-To-Market &amp; Marketing</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Mendefinisikan funnel, channel, KPI, dan akuisisi member/merchant.</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4: Technology Blueprint</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Menjelaskan arsitektur aktual dan roadmap teknis realistis.</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5: Security, Risk &amp; Compliance</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Membuat risk register dan kontrol utama.</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6: Organizational Blueprint</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Menentukan organisasi bertahap dan manpower plan.</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7: Modal Investasi</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Menghitung baseline initial investment dan klasifikasi biaya.</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8: Modal Kerja</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Menghitung kebutuhan working capital 6, 12, dan 18 bulan.</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9: Fixed Cost</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Menyusun fixed cost bulanan dan tahunan 2026-2030.</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10: Variable Cost</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Menyusun driver variable cost dan biaya skala transaksi.</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11: Membership Economics</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Membuat waterfall per paket membership.</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12: Bonus Liability Model</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Menghitung exposure bonus dan stress test payout.</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2400" b="1">
                <a:solidFill>
                  <a:srgbClr val="062033"/>
                </a:solidFill>
              </a:defRPr>
            </a:pPr>
            <a:r>
              <a:t>Appendix 13: Five-Year Financial Projection</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Membangun proyeksi 2026-2030 untuk tiga skenario.</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14: Balance Sheet</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Membuat proyeksi neraca berbasis model finansial.</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15: Cash Flow</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Membangun arus kas dan runway.</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16: Break-Even Analysis</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Menghitung break-even paid members, revenue, transaction volume, merchant count, dan month.</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17: Unit Economics</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Mengukur CAC, LTV, margin, payback, activation, retention, churn, ARPU, ARPPU, dan merchant revenue.</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18: Funding Strategy</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Menyusun milestone pendanaan tanpa menyatakan dana sudah diperoleh.</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19: Valuation</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Menyusun pendekatan valuasi dengan disclaimer early-stage.</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20: KPI Dashboard</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Menentukan KPI member, merchant, payment, finance, marketing, dan operations.</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21: Corporate Roadmap</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Menampilkan roadmap visual 2026-2035 dengan milestone, KPI, budget, dependency, dan exit criteria.</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22: SOP &amp; Operations</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Meringkas SOP operasional pada level blueprint.</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23: Investment Case</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Merangkum alasan strategis TapGo menarik untuk investor/partner tanpa menjanjikan ROI.</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24: Executive Book</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Menjadi ringkasan cepat untuk pembaca investor 10-15 menit.</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25: Executive Summary</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Menjelaskan posisi strategis TapGo sebagai platform ekosistem digital berbasis membership.</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320040"/>
            <a:ext cx="11155680" cy="685800"/>
          </a:xfrm>
          <a:prstGeom prst="rect">
            <a:avLst/>
          </a:prstGeom>
          <a:noFill/>
        </p:spPr>
        <p:txBody>
          <a:bodyPr wrap="none">
            <a:spAutoFit/>
          </a:bodyPr>
          <a:lstStyle/>
          <a:p>
            <a:pPr>
              <a:defRPr sz="3000" b="1">
                <a:solidFill>
                  <a:srgbClr val="062033"/>
                </a:solidFill>
              </a:defRPr>
            </a:pPr>
            <a:r>
              <a:t>Appendix 26: Company Profile</a:t>
            </a:r>
          </a:p>
        </p:txBody>
      </p:sp>
      <p:sp>
        <p:nvSpPr>
          <p:cNvPr id="3" name="TextBox 2"/>
          <p:cNvSpPr txBox="1"/>
          <p:nvPr/>
        </p:nvSpPr>
        <p:spPr>
          <a:xfrm>
            <a:off x="530352" y="1051560"/>
            <a:ext cx="10424160" cy="457200"/>
          </a:xfrm>
          <a:prstGeom prst="rect">
            <a:avLst/>
          </a:prstGeom>
          <a:noFill/>
        </p:spPr>
        <p:txBody>
          <a:bodyPr wrap="none">
            <a:spAutoFit/>
          </a:bodyPr>
          <a:lstStyle/>
          <a:p>
            <a:pPr>
              <a:defRPr sz="1500">
                <a:solidFill>
                  <a:srgbClr val="64748B"/>
                </a:solidFill>
              </a:defRPr>
            </a:pPr>
            <a:r>
              <a:t>Mencatat identitas resmi, visi, misi, nilai, dan governance perusahaan.</a:t>
            </a:r>
          </a:p>
        </p:txBody>
      </p:sp>
      <p:sp>
        <p:nvSpPr>
          <p:cNvPr id="4" name="TextBox 3"/>
          <p:cNvSpPr txBox="1"/>
          <p:nvPr/>
        </p:nvSpPr>
        <p:spPr>
          <a:xfrm>
            <a:off x="640080" y="1600200"/>
            <a:ext cx="10424160" cy="4297680"/>
          </a:xfrm>
          <a:prstGeom prst="rect">
            <a:avLst/>
          </a:prstGeom>
          <a:noFill/>
        </p:spPr>
        <p:txBody>
          <a:bodyPr wrap="square">
            <a:spAutoFit/>
          </a:bodyPr>
          <a:lstStyle/>
          <a:p>
            <a:pPr>
              <a:spcAft>
                <a:spcPts val="800"/>
              </a:spcAft>
              <a:defRPr sz="1800">
                <a:solidFill>
                  <a:srgbClr val="25364A"/>
                </a:solidFill>
              </a:defRPr>
            </a:pPr>
            <a:r>
              <a:t>Key assumption register</a:t>
            </a:r>
          </a:p>
          <a:p>
            <a:pPr>
              <a:spcAft>
                <a:spcPts val="800"/>
              </a:spcAft>
              <a:defRPr sz="1800">
                <a:solidFill>
                  <a:srgbClr val="25364A"/>
                </a:solidFill>
              </a:defRPr>
            </a:pPr>
            <a:r>
              <a:t>Owner confirmation required</a:t>
            </a:r>
          </a:p>
          <a:p>
            <a:pPr>
              <a:spcAft>
                <a:spcPts val="800"/>
              </a:spcAft>
              <a:defRPr sz="1800">
                <a:solidFill>
                  <a:srgbClr val="25364A"/>
                </a:solidFill>
              </a:defRPr>
            </a:pPr>
            <a:r>
              <a:t>Roadmap dependency</a:t>
            </a:r>
          </a:p>
          <a:p>
            <a:pPr>
              <a:spcAft>
                <a:spcPts val="800"/>
              </a:spcAft>
              <a:defRPr sz="1800">
                <a:solidFill>
                  <a:srgbClr val="25364A"/>
                </a:solidFill>
              </a:defRPr>
            </a:pPr>
            <a:r>
              <a:t>Risk and KPI tracking</a:t>
            </a:r>
          </a:p>
        </p:txBody>
      </p:sp>
      <p:sp>
        <p:nvSpPr>
          <p:cNvPr id="5" name="TextBox 4"/>
          <p:cNvSpPr txBox="1"/>
          <p:nvPr/>
        </p:nvSpPr>
        <p:spPr>
          <a:xfrm>
            <a:off x="502920" y="6400800"/>
            <a:ext cx="10972800" cy="182880"/>
          </a:xfrm>
          <a:prstGeom prst="rect">
            <a:avLst/>
          </a:prstGeom>
          <a:noFill/>
        </p:spPr>
        <p:txBody>
          <a:bodyPr wrap="none">
            <a:spAutoFit/>
          </a:bodyPr>
          <a:lstStyle/>
          <a:p>
            <a:pPr>
              <a:defRPr sz="800">
                <a:solidFill>
                  <a:srgbClr val="64748B"/>
                </a:solidFill>
              </a:defRPr>
            </a:pPr>
            <a:r>
              <a:t>PT TAPGO LION INDONESIA | TapGo Master Blueprint 2026-2035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